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12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70916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3977640" y="731520"/>
            <a:ext cx="1188720" cy="11887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3E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4434840" y="1188720"/>
            <a:ext cx="274320" cy="274320"/>
          </a:xfrm>
          <a:prstGeom prst="ellipse">
            <a:avLst/>
          </a:prstGeom>
          <a:solidFill>
            <a:srgbClr val="1A3E52"/>
          </a:solidFill>
          <a:ln w="12700">
            <a:solidFill>
              <a:srgbClr val="1A3E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 AI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Monitoreo Preventivo del Bienestar Emocional Estudiantil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·  PTY4614 Capstone  ·  Duoc UC San Joaquín  ·  2026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Nataly Valesca Tobar Gallardo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286000" y="1554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Nataly Valesca Tobar Gallardo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2860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— Plan 1446114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86000" y="27432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Full-Stack (Frontend + Backend)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IA y Seguridad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 y Documentación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y Control de Calidad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64008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1572768"/>
            <a:ext cx="246888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640080" y="166420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 de estudiantes universitarios reportan estrés o ansiedad académica significativa.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herramientas digitales accesibles de automonitoreo emocional en Duoc UC.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bienestar no recibe alertas tempranas automáticas de casos de riesgo.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9184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1572768"/>
            <a:ext cx="246888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291840" y="166420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mental estudiantil impacta directamente el rendimiento académico y la deserción.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preventiva reduce la carga del equipo de bienestar y mejora la detección oportuna.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 AI resuelve un problema real con tecnología accesible, privada y segura.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943600" y="1572768"/>
            <a:ext cx="246888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5943600" y="166420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de monitoreo emocional con análisis IA.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diaria cifrada con AES-256.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al equipo de bienestar.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tendencias emocionales.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914400" y="1280160"/>
            <a:ext cx="7315200" cy="2286000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1097280" y="1417320"/>
            <a:ext cx="6949440" cy="20116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Progressive Web App (PWA) de monitoreo preventivo del bienestar emocional estudiantil que integre inteligencia artificial para detectar patrones de estrés, ansiedad y agotamiento académico, facilitando la intervención oportuna del equipo de bienestar de Duoc UC San Joaquín.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OE1: Diseñar la arquitectura SoC de 6 capas, modelo de datos relacional y mockups UX/UI.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OE2: Desarrollar el backend REST con FastAPI e integrar OpenAI GPT-4o mini para análisis de sentimiento en español chileno.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OE3: Implementar autenticación JWT con Supabase Auth, cifrado AES-256-GCM y RLS en todas las tablas.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OE4: Construir el frontend React 19 con sistema de diseño atómico, 6 páginas funcionales y dark mode.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OE5: Desplegar la PWA en Vercel (frontend) y Railway (backend) con CI/CD mediante GitHub Actions.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OE6: Ejecutar plan de pruebas de calidad (Pytest + Vitest) y documentar resultados en informe técnico final.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está dirigida exclusivamente a estudiantes con correo institucional @duocuc.cl.</a:t>
            </a:r>
            <a:endParaRPr lang="en-US" sz="115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emocional es preventivo — no reemplaza la atención psicológica profesional.</a:t>
            </a:r>
            <a:endParaRPr lang="en-US" sz="115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la bitácora son privados y cifrados: solo el propio estudiante puede acceder a ellos.</a:t>
            </a:r>
            <a:endParaRPr lang="en-US" sz="115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alertas notifica al equipo de bienestar solo con metadata (sin texto de la bitácora).</a:t>
            </a:r>
            <a:endParaRPr lang="en-US" sz="115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incluye: bitácora emocional, análisis IA, dashboard de tendencias, alertas y recursos de apoyo.</a:t>
            </a:r>
            <a:endParaRPr lang="en-US" sz="115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funcionalidades excluidas del MVP: app móvil nativa, videollamadas y diagnóstico clínico.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162763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bitácora emocional (20-2000 caracteres)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 con GPT-4o mini (4 niveles de riesgo)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AES-256-GCM de contenidos de bitácora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fallback manual si IA no disponible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con correo SMTP al equipo de bienestar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tendencias emocionales y filtros 7d/30d/90d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exclusiva con correos @duocuc.cl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1188720"/>
            <a:ext cx="27432" cy="3383280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6634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63440" y="162763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accesible en escritorio y móvil (PWA)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protegidos con cifrado AES-256 (estándar bancario)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en todas las tablas de la BD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análisis IA menor a 3 segundos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Ley 19.628 de protección de datos</a:t>
            </a:r>
            <a:endParaRPr lang="en-US" sz="10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IEEE 830-1998 e ISO/IEC 25010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>
            <a:spLocks noGrp="1"/>
          </p:cNvSpPr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A3E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Dots"/>
          <p:cNvSpPr>
            <a:spLocks noGrp="1"/>
          </p:cNvSpPr>
          <p:nvPr/>
        </p:nvSpPr>
        <p:spPr>
          <a:xfrm>
            <a:off x="8600000" y="50000"/>
            <a:ext cx="450000" cy="3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r>
              <a:rPr lang="es-CL" sz="800" b="0">
                <a:solidFill>
                  <a:srgbClr val="2D6A8F"/>
                </a:solidFill>
              </a:rPr>
              <a:t>● ● ● ●
● ● ● ●
● ● ● ●
● ● ● ●</a:t>
            </a:r>
          </a:p>
        </p:txBody>
      </p:sp>
      <p:sp>
        <p:nvSpPr>
          <p:cNvPr id="4" name="DotsLow"/>
          <p:cNvSpPr>
            <a:spLocks noGrp="1"/>
          </p:cNvSpPr>
          <p:nvPr/>
        </p:nvSpPr>
        <p:spPr>
          <a:xfrm>
            <a:off x="50000" y="5700000"/>
            <a:ext cx="350000" cy="28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r>
              <a:rPr lang="es-CL" sz="700" b="0">
                <a:solidFill>
                  <a:srgbClr val="2D6A8F"/>
                </a:solidFill>
              </a:rPr>
              <a:t>● ● ● ●
● ● ● ●
● ● ● ●
● ● ● ●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300000" y="140000"/>
            <a:ext cx="6000000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s-CL" sz="3200" b="1">
                <a:solidFill>
                  <a:srgbClr val="FFFFFF"/>
                </a:solidFill>
              </a:rPr>
              <a:t>Metodología</a:t>
            </a:r>
          </a:p>
        </p:txBody>
      </p:sp>
      <p:sp>
        <p:nvSpPr>
          <p:cNvPr id="6" name="Sub"/>
          <p:cNvSpPr>
            <a:spLocks noGrp="1"/>
          </p:cNvSpPr>
          <p:nvPr/>
        </p:nvSpPr>
        <p:spPr>
          <a:xfrm>
            <a:off x="300000" y="703500"/>
            <a:ext cx="7000000" cy="3965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s-CL" sz="1400" b="0" i="1" dirty="0">
                <a:solidFill>
                  <a:srgbClr val="A8C8DC"/>
                </a:solidFill>
              </a:rPr>
              <a:t>Cascada con Revisiones de Fase  ·  Cada fase se completa antes de avanzar, con revisión de calidad al cierre.</a:t>
            </a:r>
          </a:p>
        </p:txBody>
      </p:sp>
      <p:sp>
        <p:nvSpPr>
          <p:cNvPr id="10" name="F1Box"/>
          <p:cNvSpPr>
            <a:spLocks noGrp="1"/>
          </p:cNvSpPr>
          <p:nvPr/>
        </p:nvSpPr>
        <p:spPr>
          <a:xfrm>
            <a:off x="400000" y="1350000"/>
            <a:ext cx="1600000" cy="560000"/>
          </a:xfrm>
          <a:prstGeom prst="roundRect">
            <a:avLst>
              <a:gd name="adj" fmla="val 30000"/>
            </a:avLst>
          </a:prstGeom>
          <a:solidFill>
            <a:srgbClr val="1A3E5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100" b="1" dirty="0">
                <a:solidFill>
                  <a:srgbClr val="FFFFFF"/>
                </a:solidFill>
              </a:rPr>
              <a:t> REQUISITOS</a:t>
            </a:r>
          </a:p>
          <a:p>
            <a:pPr algn="ctr"/>
            <a:r>
              <a:rPr lang="es-CL" sz="900" b="0" dirty="0" err="1">
                <a:solidFill>
                  <a:srgbClr val="A8C8DC"/>
                </a:solidFill>
              </a:rPr>
              <a:t>Sem</a:t>
            </a:r>
            <a:r>
              <a:rPr lang="es-CL" sz="900" b="0" dirty="0">
                <a:solidFill>
                  <a:srgbClr val="A8C8DC"/>
                </a:solidFill>
              </a:rPr>
              <a:t>. 1–3</a:t>
            </a:r>
          </a:p>
        </p:txBody>
      </p:sp>
      <p:sp>
        <p:nvSpPr>
          <p:cNvPr id="11" name="Arr1"/>
          <p:cNvSpPr>
            <a:spLocks noGrp="1"/>
          </p:cNvSpPr>
          <p:nvPr/>
        </p:nvSpPr>
        <p:spPr>
          <a:xfrm>
            <a:off x="2000000" y="1700000"/>
            <a:ext cx="500000" cy="4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D9A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F2Box"/>
          <p:cNvSpPr>
            <a:spLocks noGrp="1"/>
          </p:cNvSpPr>
          <p:nvPr/>
        </p:nvSpPr>
        <p:spPr>
          <a:xfrm>
            <a:off x="1900000" y="2130000"/>
            <a:ext cx="1600000" cy="560000"/>
          </a:xfrm>
          <a:prstGeom prst="roundRect">
            <a:avLst>
              <a:gd name="adj" fmla="val 30000"/>
            </a:avLst>
          </a:prstGeom>
          <a:solidFill>
            <a:srgbClr val="2D6A8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100" b="1" dirty="0">
                <a:solidFill>
                  <a:srgbClr val="FFFFFF"/>
                </a:solidFill>
              </a:rPr>
              <a:t> DISEÑO</a:t>
            </a:r>
          </a:p>
          <a:p>
            <a:pPr algn="ctr"/>
            <a:r>
              <a:rPr lang="es-CL" sz="900" b="0" dirty="0" err="1">
                <a:solidFill>
                  <a:srgbClr val="E8F2F8"/>
                </a:solidFill>
              </a:rPr>
              <a:t>Sem</a:t>
            </a:r>
            <a:r>
              <a:rPr lang="es-CL" sz="900" b="0" dirty="0">
                <a:solidFill>
                  <a:srgbClr val="E8F2F8"/>
                </a:solidFill>
              </a:rPr>
              <a:t>. 4–7</a:t>
            </a:r>
          </a:p>
        </p:txBody>
      </p:sp>
      <p:sp>
        <p:nvSpPr>
          <p:cNvPr id="13" name="Arr2"/>
          <p:cNvSpPr>
            <a:spLocks noGrp="1"/>
          </p:cNvSpPr>
          <p:nvPr/>
        </p:nvSpPr>
        <p:spPr>
          <a:xfrm>
            <a:off x="3500000" y="2480000"/>
            <a:ext cx="500000" cy="4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D9A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F3Box"/>
          <p:cNvSpPr>
            <a:spLocks noGrp="1"/>
          </p:cNvSpPr>
          <p:nvPr/>
        </p:nvSpPr>
        <p:spPr>
          <a:xfrm>
            <a:off x="3400000" y="2910000"/>
            <a:ext cx="1600000" cy="560000"/>
          </a:xfrm>
          <a:prstGeom prst="roundRect">
            <a:avLst>
              <a:gd name="adj" fmla="val 30000"/>
            </a:avLst>
          </a:prstGeom>
          <a:solidFill>
            <a:srgbClr val="2D6A8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100" b="1" dirty="0">
                <a:solidFill>
                  <a:srgbClr val="FFFFFF"/>
                </a:solidFill>
              </a:rPr>
              <a:t> IMPLEMENTACIÓN</a:t>
            </a:r>
          </a:p>
          <a:p>
            <a:pPr algn="ctr"/>
            <a:r>
              <a:rPr lang="es-CL" sz="900" b="0" dirty="0" err="1">
                <a:solidFill>
                  <a:srgbClr val="E8F2F8"/>
                </a:solidFill>
              </a:rPr>
              <a:t>Sem</a:t>
            </a:r>
            <a:r>
              <a:rPr lang="es-CL" sz="900" b="0" dirty="0">
                <a:solidFill>
                  <a:srgbClr val="E8F2F8"/>
                </a:solidFill>
              </a:rPr>
              <a:t>. 8–11</a:t>
            </a:r>
          </a:p>
        </p:txBody>
      </p:sp>
      <p:sp>
        <p:nvSpPr>
          <p:cNvPr id="15" name="Arr3"/>
          <p:cNvSpPr>
            <a:spLocks noGrp="1"/>
          </p:cNvSpPr>
          <p:nvPr/>
        </p:nvSpPr>
        <p:spPr>
          <a:xfrm>
            <a:off x="5000000" y="3260000"/>
            <a:ext cx="500000" cy="4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D9A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F4Box"/>
          <p:cNvSpPr>
            <a:spLocks noGrp="1"/>
          </p:cNvSpPr>
          <p:nvPr/>
        </p:nvSpPr>
        <p:spPr>
          <a:xfrm>
            <a:off x="4900000" y="3690000"/>
            <a:ext cx="1600000" cy="560000"/>
          </a:xfrm>
          <a:prstGeom prst="roundRect">
            <a:avLst>
              <a:gd name="adj" fmla="val 30000"/>
            </a:avLst>
          </a:prstGeom>
          <a:solidFill>
            <a:srgbClr val="2D6A8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100" b="1" dirty="0">
                <a:solidFill>
                  <a:srgbClr val="FFFFFF"/>
                </a:solidFill>
              </a:rPr>
              <a:t> PRUEBAS</a:t>
            </a:r>
          </a:p>
          <a:p>
            <a:pPr algn="ctr"/>
            <a:r>
              <a:rPr lang="es-CL" sz="900" b="0" dirty="0" err="1">
                <a:solidFill>
                  <a:srgbClr val="E8F2F8"/>
                </a:solidFill>
              </a:rPr>
              <a:t>Sem</a:t>
            </a:r>
            <a:r>
              <a:rPr lang="es-CL" sz="900" b="0" dirty="0">
                <a:solidFill>
                  <a:srgbClr val="E8F2F8"/>
                </a:solidFill>
              </a:rPr>
              <a:t>. 12–13</a:t>
            </a:r>
          </a:p>
        </p:txBody>
      </p:sp>
      <p:sp>
        <p:nvSpPr>
          <p:cNvPr id="17" name="Arr4"/>
          <p:cNvSpPr>
            <a:spLocks noGrp="1"/>
          </p:cNvSpPr>
          <p:nvPr/>
        </p:nvSpPr>
        <p:spPr>
          <a:xfrm>
            <a:off x="6500000" y="4040000"/>
            <a:ext cx="500000" cy="4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D9A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5Box"/>
          <p:cNvSpPr>
            <a:spLocks noGrp="1"/>
          </p:cNvSpPr>
          <p:nvPr/>
        </p:nvSpPr>
        <p:spPr>
          <a:xfrm>
            <a:off x="6400000" y="4470000"/>
            <a:ext cx="1700000" cy="560000"/>
          </a:xfrm>
          <a:prstGeom prst="roundRect">
            <a:avLst>
              <a:gd name="adj" fmla="val 30000"/>
            </a:avLst>
          </a:prstGeom>
          <a:solidFill>
            <a:srgbClr val="3D9A8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100" b="1" dirty="0">
                <a:solidFill>
                  <a:srgbClr val="FFFFFF"/>
                </a:solidFill>
              </a:rPr>
              <a:t> ENTREGA</a:t>
            </a:r>
          </a:p>
          <a:p>
            <a:pPr algn="ctr"/>
            <a:r>
              <a:rPr lang="es-CL" sz="900" b="0" dirty="0" err="1">
                <a:solidFill>
                  <a:srgbClr val="E8F2F8"/>
                </a:solidFill>
              </a:rPr>
              <a:t>Sem</a:t>
            </a:r>
            <a:r>
              <a:rPr lang="es-CL" sz="900" b="0" dirty="0">
                <a:solidFill>
                  <a:srgbClr val="E8F2F8"/>
                </a:solidFill>
              </a:rPr>
              <a:t>. 14</a:t>
            </a:r>
          </a:p>
        </p:txBody>
      </p:sp>
      <p:sp>
        <p:nvSpPr>
          <p:cNvPr id="20" name="Legend"/>
          <p:cNvSpPr>
            <a:spLocks noGrp="1"/>
          </p:cNvSpPr>
          <p:nvPr/>
        </p:nvSpPr>
        <p:spPr>
          <a:xfrm>
            <a:off x="400000" y="5200000"/>
            <a:ext cx="8400000" cy="450000"/>
          </a:xfrm>
          <a:prstGeom prst="rect">
            <a:avLst/>
          </a:prstGeom>
          <a:solidFill>
            <a:srgbClr val="E8F2F8"/>
          </a:solidFill>
          <a:ln w="18000">
            <a:solidFill>
              <a:srgbClr val="A8C8DC"/>
            </a:solidFill>
          </a:ln>
        </p:spPr>
        <p:txBody>
          <a:bodyPr lIns="180000" rIns="180000" anchor="ctr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Waterfall con revisiones de calidad al cierre de cada fase  ·  </a:t>
            </a:r>
            <a:r>
              <a:rPr lang="es-CL" sz="1000" b="0">
                <a:solidFill>
                  <a:srgbClr val="2D6A8F"/>
                </a:solidFill>
              </a:rPr>
              <a:t>PTY4614 Capstone  ·  Duoc UC San Joaquín  ·  2026</a:t>
            </a:r>
          </a:p>
        </p:txBody>
      </p:sp>
      <p:sp>
        <p:nvSpPr>
          <p:cNvPr id="21" name="BotBand"/>
          <p:cNvSpPr>
            <a:spLocks noGrp="1"/>
          </p:cNvSpPr>
          <p:nvPr/>
        </p:nvSpPr>
        <p:spPr>
          <a:xfrm>
            <a:off x="0" y="5830000"/>
            <a:ext cx="9144000" cy="270000"/>
          </a:xfrm>
          <a:prstGeom prst="rect">
            <a:avLst/>
          </a:prstGeom>
          <a:solidFill>
            <a:srgbClr val="1A3E5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566928" y="1207008"/>
            <a:ext cx="3803904" cy="502920"/>
          </a:xfrm>
          <a:prstGeom prst="rect">
            <a:avLst/>
          </a:prstGeom>
          <a:solidFill>
            <a:srgbClr val="E8F2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594360" y="1207008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Actividad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07408" y="1207008"/>
            <a:ext cx="740664" cy="502920"/>
          </a:xfrm>
          <a:prstGeom prst="rect">
            <a:avLst/>
          </a:prstGeom>
          <a:solidFill>
            <a:srgbClr val="E8F2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434840" y="12070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84648" y="1207008"/>
            <a:ext cx="740664" cy="502920"/>
          </a:xfrm>
          <a:prstGeom prst="rect">
            <a:avLst/>
          </a:prstGeom>
          <a:solidFill>
            <a:srgbClr val="E8F2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5212080" y="12070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61888" y="1207008"/>
            <a:ext cx="740664" cy="502920"/>
          </a:xfrm>
          <a:prstGeom prst="rect">
            <a:avLst/>
          </a:prstGeom>
          <a:solidFill>
            <a:srgbClr val="E8F2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5989320" y="12070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39128" y="1207008"/>
            <a:ext cx="740664" cy="502920"/>
          </a:xfrm>
          <a:prstGeom prst="rect">
            <a:avLst/>
          </a:prstGeom>
          <a:solidFill>
            <a:srgbClr val="E8F2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6766560" y="12070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16368" y="1207008"/>
            <a:ext cx="740664" cy="502920"/>
          </a:xfrm>
          <a:prstGeom prst="rect">
            <a:avLst/>
          </a:prstGeom>
          <a:solidFill>
            <a:srgbClr val="E8F2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7543800" y="12070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1737360"/>
            <a:ext cx="38039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Análisis y Diseño (Sem. 1–3)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07408" y="1737360"/>
            <a:ext cx="740664" cy="502920"/>
          </a:xfrm>
          <a:prstGeom prst="rect">
            <a:avLst/>
          </a:prstGeom>
          <a:solidFill>
            <a:srgbClr val="2D6A8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4434840" y="1737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84648" y="1737360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5212080" y="1737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61888" y="1737360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5989320" y="1737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39128" y="1737360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6766560" y="1737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16368" y="1737360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7543800" y="1737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" y="2267712"/>
            <a:ext cx="38039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594360" y="2267712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Desarrollo Frontend (Sem. 4–7)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407408" y="2267712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4434840" y="22677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84648" y="2267712"/>
            <a:ext cx="740664" cy="502920"/>
          </a:xfrm>
          <a:prstGeom prst="rect">
            <a:avLst/>
          </a:prstGeom>
          <a:solidFill>
            <a:srgbClr val="2D6A8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5212080" y="22677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961888" y="2267712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Text 67"/>
          <p:cNvSpPr/>
          <p:nvPr/>
        </p:nvSpPr>
        <p:spPr>
          <a:xfrm>
            <a:off x="5989320" y="22677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739128" y="2267712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/>
          <p:nvPr/>
        </p:nvSpPr>
        <p:spPr>
          <a:xfrm>
            <a:off x="6766560" y="22677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516368" y="2267712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71"/>
          <p:cNvSpPr/>
          <p:nvPr/>
        </p:nvSpPr>
        <p:spPr>
          <a:xfrm>
            <a:off x="7543800" y="22677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66928" y="2798064"/>
            <a:ext cx="38039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594360" y="2798064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Backend e IA (Sem. 8–11)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407408" y="2798064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Text 75"/>
          <p:cNvSpPr/>
          <p:nvPr/>
        </p:nvSpPr>
        <p:spPr>
          <a:xfrm>
            <a:off x="4434840" y="27980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184648" y="2798064"/>
            <a:ext cx="740664" cy="502920"/>
          </a:xfrm>
          <a:prstGeom prst="rect">
            <a:avLst/>
          </a:prstGeom>
          <a:solidFill>
            <a:srgbClr val="2D6A8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Text 77"/>
          <p:cNvSpPr/>
          <p:nvPr/>
        </p:nvSpPr>
        <p:spPr>
          <a:xfrm>
            <a:off x="5212080" y="27980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961888" y="2798064"/>
            <a:ext cx="740664" cy="502920"/>
          </a:xfrm>
          <a:prstGeom prst="rect">
            <a:avLst/>
          </a:prstGeom>
          <a:solidFill>
            <a:srgbClr val="2D6A8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Text 79"/>
          <p:cNvSpPr/>
          <p:nvPr/>
        </p:nvSpPr>
        <p:spPr>
          <a:xfrm>
            <a:off x="5989320" y="27980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739128" y="2798064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Text 81"/>
          <p:cNvSpPr/>
          <p:nvPr/>
        </p:nvSpPr>
        <p:spPr>
          <a:xfrm>
            <a:off x="6766560" y="27980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516368" y="2798064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Text 83"/>
          <p:cNvSpPr/>
          <p:nvPr/>
        </p:nvSpPr>
        <p:spPr>
          <a:xfrm>
            <a:off x="7543800" y="27980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66928" y="3328416"/>
            <a:ext cx="38039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Text 85"/>
          <p:cNvSpPr/>
          <p:nvPr/>
        </p:nvSpPr>
        <p:spPr>
          <a:xfrm>
            <a:off x="594360" y="3328416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QA y Despliegue (Sem. 12–14)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407408" y="3328416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Text 87"/>
          <p:cNvSpPr/>
          <p:nvPr/>
        </p:nvSpPr>
        <p:spPr>
          <a:xfrm>
            <a:off x="4434840" y="33284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184648" y="3328416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Text 89"/>
          <p:cNvSpPr/>
          <p:nvPr/>
        </p:nvSpPr>
        <p:spPr>
          <a:xfrm>
            <a:off x="5212080" y="33284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961888" y="3328416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Text 91"/>
          <p:cNvSpPr/>
          <p:nvPr/>
        </p:nvSpPr>
        <p:spPr>
          <a:xfrm>
            <a:off x="5989320" y="33284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739128" y="3328416"/>
            <a:ext cx="740664" cy="502920"/>
          </a:xfrm>
          <a:prstGeom prst="rect">
            <a:avLst/>
          </a:prstGeom>
          <a:solidFill>
            <a:srgbClr val="2D6A8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Text 93"/>
          <p:cNvSpPr/>
          <p:nvPr/>
        </p:nvSpPr>
        <p:spPr>
          <a:xfrm>
            <a:off x="6766560" y="33284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516368" y="3328416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Text 95"/>
          <p:cNvSpPr/>
          <p:nvPr/>
        </p:nvSpPr>
        <p:spPr>
          <a:xfrm>
            <a:off x="7543800" y="33284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66928" y="3858768"/>
            <a:ext cx="38039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Text 97"/>
          <p:cNvSpPr/>
          <p:nvPr/>
        </p:nvSpPr>
        <p:spPr>
          <a:xfrm>
            <a:off x="594360" y="3858768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407408" y="3858768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Text 99"/>
          <p:cNvSpPr/>
          <p:nvPr/>
        </p:nvSpPr>
        <p:spPr>
          <a:xfrm>
            <a:off x="4434840" y="385876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184648" y="3858768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Text 101"/>
          <p:cNvSpPr/>
          <p:nvPr/>
        </p:nvSpPr>
        <p:spPr>
          <a:xfrm>
            <a:off x="5212080" y="385876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961888" y="3858768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Text 103"/>
          <p:cNvSpPr/>
          <p:nvPr/>
        </p:nvSpPr>
        <p:spPr>
          <a:xfrm>
            <a:off x="5989320" y="385876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739128" y="3858768"/>
            <a:ext cx="74066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Text 105"/>
          <p:cNvSpPr/>
          <p:nvPr/>
        </p:nvSpPr>
        <p:spPr>
          <a:xfrm>
            <a:off x="6766560" y="385876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516368" y="3858768"/>
            <a:ext cx="740664" cy="502920"/>
          </a:xfrm>
          <a:prstGeom prst="rect">
            <a:avLst/>
          </a:prstGeom>
          <a:solidFill>
            <a:srgbClr val="2D6A8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Text 107"/>
          <p:cNvSpPr/>
          <p:nvPr/>
        </p:nvSpPr>
        <p:spPr>
          <a:xfrm>
            <a:off x="7543800" y="385876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>
            <a:spLocks noGrp="1"/>
          </p:cNvSpPr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A3E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Dots"/>
          <p:cNvSpPr>
            <a:spLocks noGrp="1"/>
          </p:cNvSpPr>
          <p:nvPr/>
        </p:nvSpPr>
        <p:spPr>
          <a:xfrm>
            <a:off x="8600000" y="50000"/>
            <a:ext cx="450000" cy="3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r>
              <a:rPr lang="es-CL" sz="800" b="0">
                <a:solidFill>
                  <a:srgbClr val="2D6A8F"/>
                </a:solidFill>
              </a:rPr>
              <a:t>● ● ● ●
● ● ● ●
● ● ● ●
● ● ● ●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300000" y="150000"/>
            <a:ext cx="7000000" cy="75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s-CL" sz="3200" b="1">
                <a:solidFill>
                  <a:srgbClr val="FFFFFF"/>
                </a:solidFill>
              </a:rPr>
              <a:t>Tecnologías y Herramientas</a:t>
            </a:r>
          </a:p>
        </p:txBody>
      </p:sp>
      <p:sp>
        <p:nvSpPr>
          <p:cNvPr id="20" name="HdrFE"/>
          <p:cNvSpPr>
            <a:spLocks noGrp="1"/>
          </p:cNvSpPr>
          <p:nvPr/>
        </p:nvSpPr>
        <p:spPr>
          <a:xfrm>
            <a:off x="250000" y="1200000"/>
            <a:ext cx="2000000" cy="350000"/>
          </a:xfrm>
          <a:prstGeom prst="rect">
            <a:avLst/>
          </a:prstGeom>
          <a:solidFill>
            <a:srgbClr val="2D6A8F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400" b="1" dirty="0">
                <a:solidFill>
                  <a:srgbClr val="FFFFFF"/>
                </a:solidFill>
              </a:rPr>
              <a:t> FRONTEND</a:t>
            </a:r>
          </a:p>
        </p:txBody>
      </p:sp>
      <p:sp>
        <p:nvSpPr>
          <p:cNvPr id="21" name="CardReact"/>
          <p:cNvSpPr>
            <a:spLocks noGrp="1"/>
          </p:cNvSpPr>
          <p:nvPr/>
        </p:nvSpPr>
        <p:spPr>
          <a:xfrm>
            <a:off x="25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61DAFB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2800" b="1">
                <a:solidFill>
                  <a:srgbClr val="61DAFB"/>
                </a:solidFill>
              </a:rPr>
              <a:t>⚛</a:t>
            </a:r>
          </a:p>
        </p:txBody>
      </p:sp>
      <p:sp>
        <p:nvSpPr>
          <p:cNvPr id="22" name="LblReact"/>
          <p:cNvSpPr>
            <a:spLocks noGrp="1"/>
          </p:cNvSpPr>
          <p:nvPr/>
        </p:nvSpPr>
        <p:spPr>
          <a:xfrm>
            <a:off x="20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React 19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+ Vite</a:t>
            </a:r>
          </a:p>
        </p:txBody>
      </p:sp>
      <p:sp>
        <p:nvSpPr>
          <p:cNvPr id="23" name="CardCSS"/>
          <p:cNvSpPr>
            <a:spLocks noGrp="1"/>
          </p:cNvSpPr>
          <p:nvPr/>
        </p:nvSpPr>
        <p:spPr>
          <a:xfrm>
            <a:off x="120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264DE4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2200" b="1">
                <a:solidFill>
                  <a:srgbClr val="264DE4"/>
                </a:solidFill>
              </a:rPr>
              <a:t>CSS</a:t>
            </a:r>
          </a:p>
        </p:txBody>
      </p:sp>
      <p:sp>
        <p:nvSpPr>
          <p:cNvPr id="24" name="LblCSS"/>
          <p:cNvSpPr>
            <a:spLocks noGrp="1"/>
          </p:cNvSpPr>
          <p:nvPr/>
        </p:nvSpPr>
        <p:spPr>
          <a:xfrm>
            <a:off x="115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CSS Design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Tokens</a:t>
            </a:r>
          </a:p>
        </p:txBody>
      </p:sp>
      <p:sp>
        <p:nvSpPr>
          <p:cNvPr id="25" name="CardRC"/>
          <p:cNvSpPr>
            <a:spLocks noGrp="1"/>
          </p:cNvSpPr>
          <p:nvPr/>
        </p:nvSpPr>
        <p:spPr>
          <a:xfrm>
            <a:off x="250000" y="296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8884D8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2200" b="1">
                <a:solidFill>
                  <a:srgbClr val="8884D8"/>
                </a:solidFill>
              </a:rPr>
              <a:t>📊</a:t>
            </a:r>
          </a:p>
        </p:txBody>
      </p:sp>
      <p:sp>
        <p:nvSpPr>
          <p:cNvPr id="26" name="LblRC"/>
          <p:cNvSpPr>
            <a:spLocks noGrp="1"/>
          </p:cNvSpPr>
          <p:nvPr/>
        </p:nvSpPr>
        <p:spPr>
          <a:xfrm>
            <a:off x="200000" y="388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Recharts</a:t>
            </a:r>
          </a:p>
        </p:txBody>
      </p:sp>
      <p:sp>
        <p:nvSpPr>
          <p:cNvPr id="30" name="Sep1"/>
          <p:cNvSpPr>
            <a:spLocks noGrp="1"/>
          </p:cNvSpPr>
          <p:nvPr/>
        </p:nvSpPr>
        <p:spPr>
          <a:xfrm>
            <a:off x="2350000" y="1200000"/>
            <a:ext cx="30000" cy="3000000"/>
          </a:xfrm>
          <a:prstGeom prst="rect">
            <a:avLst/>
          </a:prstGeom>
          <a:solidFill>
            <a:srgbClr val="A8C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HdrBE"/>
          <p:cNvSpPr>
            <a:spLocks noGrp="1"/>
          </p:cNvSpPr>
          <p:nvPr/>
        </p:nvSpPr>
        <p:spPr>
          <a:xfrm>
            <a:off x="2500000" y="1200000"/>
            <a:ext cx="2100000" cy="350000"/>
          </a:xfrm>
          <a:prstGeom prst="rect">
            <a:avLst/>
          </a:prstGeom>
          <a:solidFill>
            <a:srgbClr val="2D6A8F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400" b="1" dirty="0">
                <a:solidFill>
                  <a:srgbClr val="FFFFFF"/>
                </a:solidFill>
              </a:rPr>
              <a:t> BACKEND</a:t>
            </a:r>
          </a:p>
        </p:txBody>
      </p:sp>
      <p:sp>
        <p:nvSpPr>
          <p:cNvPr id="41" name="CardPy"/>
          <p:cNvSpPr>
            <a:spLocks noGrp="1"/>
          </p:cNvSpPr>
          <p:nvPr/>
        </p:nvSpPr>
        <p:spPr>
          <a:xfrm>
            <a:off x="250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3776AB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2800" b="1">
                <a:solidFill>
                  <a:srgbClr val="3776AB"/>
                </a:solidFill>
              </a:rPr>
              <a:t>🐍</a:t>
            </a:r>
          </a:p>
        </p:txBody>
      </p:sp>
      <p:sp>
        <p:nvSpPr>
          <p:cNvPr id="42" name="LblPy"/>
          <p:cNvSpPr>
            <a:spLocks noGrp="1"/>
          </p:cNvSpPr>
          <p:nvPr/>
        </p:nvSpPr>
        <p:spPr>
          <a:xfrm>
            <a:off x="245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Python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+ FastAPI</a:t>
            </a:r>
          </a:p>
        </p:txBody>
      </p:sp>
      <p:sp>
        <p:nvSpPr>
          <p:cNvPr id="43" name="CardFAPI"/>
          <p:cNvSpPr>
            <a:spLocks noGrp="1"/>
          </p:cNvSpPr>
          <p:nvPr/>
        </p:nvSpPr>
        <p:spPr>
          <a:xfrm>
            <a:off x="350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059669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1800" b="1">
                <a:solidFill>
                  <a:srgbClr val="059669"/>
                </a:solidFill>
              </a:rPr>
              <a:t>FAST
API</a:t>
            </a:r>
          </a:p>
        </p:txBody>
      </p:sp>
      <p:sp>
        <p:nvSpPr>
          <p:cNvPr id="44" name="LblFAPI"/>
          <p:cNvSpPr>
            <a:spLocks noGrp="1"/>
          </p:cNvSpPr>
          <p:nvPr/>
        </p:nvSpPr>
        <p:spPr>
          <a:xfrm>
            <a:off x="345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FastAPI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Uvicorn</a:t>
            </a:r>
          </a:p>
        </p:txBody>
      </p:sp>
      <p:sp>
        <p:nvSpPr>
          <p:cNvPr id="50" name="Sep2"/>
          <p:cNvSpPr>
            <a:spLocks noGrp="1"/>
          </p:cNvSpPr>
          <p:nvPr/>
        </p:nvSpPr>
        <p:spPr>
          <a:xfrm>
            <a:off x="4650000" y="1200000"/>
            <a:ext cx="30000" cy="3000000"/>
          </a:xfrm>
          <a:prstGeom prst="rect">
            <a:avLst/>
          </a:prstGeom>
          <a:solidFill>
            <a:srgbClr val="A8C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HdrDB"/>
          <p:cNvSpPr>
            <a:spLocks noGrp="1"/>
          </p:cNvSpPr>
          <p:nvPr/>
        </p:nvSpPr>
        <p:spPr>
          <a:xfrm>
            <a:off x="4800000" y="1200000"/>
            <a:ext cx="2100000" cy="350000"/>
          </a:xfrm>
          <a:prstGeom prst="rect">
            <a:avLst/>
          </a:prstGeom>
          <a:solidFill>
            <a:srgbClr val="2D6A8F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400" b="1" dirty="0">
                <a:solidFill>
                  <a:srgbClr val="FFFFFF"/>
                </a:solidFill>
              </a:rPr>
              <a:t> BASE DE DATOS</a:t>
            </a:r>
          </a:p>
        </p:txBody>
      </p:sp>
      <p:sp>
        <p:nvSpPr>
          <p:cNvPr id="61" name="CardPG"/>
          <p:cNvSpPr>
            <a:spLocks noGrp="1"/>
          </p:cNvSpPr>
          <p:nvPr/>
        </p:nvSpPr>
        <p:spPr>
          <a:xfrm>
            <a:off x="480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336791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1600" b="1">
                <a:solidFill>
                  <a:srgbClr val="336791"/>
                </a:solidFill>
              </a:rPr>
              <a:t>PG
SQL</a:t>
            </a:r>
          </a:p>
        </p:txBody>
      </p:sp>
      <p:sp>
        <p:nvSpPr>
          <p:cNvPr id="62" name="LblPG"/>
          <p:cNvSpPr>
            <a:spLocks noGrp="1"/>
          </p:cNvSpPr>
          <p:nvPr/>
        </p:nvSpPr>
        <p:spPr>
          <a:xfrm>
            <a:off x="475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PostgreSQL</a:t>
            </a:r>
          </a:p>
        </p:txBody>
      </p:sp>
      <p:sp>
        <p:nvSpPr>
          <p:cNvPr id="63" name="CardSB"/>
          <p:cNvSpPr>
            <a:spLocks noGrp="1"/>
          </p:cNvSpPr>
          <p:nvPr/>
        </p:nvSpPr>
        <p:spPr>
          <a:xfrm>
            <a:off x="580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3ECF8E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2000" b="1">
                <a:solidFill>
                  <a:srgbClr val="3ECF8E"/>
                </a:solidFill>
              </a:rPr>
              <a:t>SB</a:t>
            </a:r>
          </a:p>
        </p:txBody>
      </p:sp>
      <p:sp>
        <p:nvSpPr>
          <p:cNvPr id="64" name="LblSB"/>
          <p:cNvSpPr>
            <a:spLocks noGrp="1"/>
          </p:cNvSpPr>
          <p:nvPr/>
        </p:nvSpPr>
        <p:spPr>
          <a:xfrm>
            <a:off x="575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Supabase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BaaS + RLS</a:t>
            </a:r>
          </a:p>
        </p:txBody>
      </p:sp>
      <p:sp>
        <p:nvSpPr>
          <p:cNvPr id="70" name="Sep3"/>
          <p:cNvSpPr>
            <a:spLocks noGrp="1"/>
          </p:cNvSpPr>
          <p:nvPr/>
        </p:nvSpPr>
        <p:spPr>
          <a:xfrm>
            <a:off x="6950000" y="1200000"/>
            <a:ext cx="30000" cy="3000000"/>
          </a:xfrm>
          <a:prstGeom prst="rect">
            <a:avLst/>
          </a:prstGeom>
          <a:solidFill>
            <a:srgbClr val="A8C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HdrIA"/>
          <p:cNvSpPr>
            <a:spLocks noGrp="1"/>
          </p:cNvSpPr>
          <p:nvPr/>
        </p:nvSpPr>
        <p:spPr>
          <a:xfrm>
            <a:off x="7100000" y="1200000"/>
            <a:ext cx="1900000" cy="350000"/>
          </a:xfrm>
          <a:prstGeom prst="rect">
            <a:avLst/>
          </a:prstGeom>
          <a:solidFill>
            <a:srgbClr val="3D9A8B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CL" sz="1400" b="1" dirty="0">
                <a:solidFill>
                  <a:srgbClr val="FFFFFF"/>
                </a:solidFill>
              </a:rPr>
              <a:t> IA / INTEGRACIÓN</a:t>
            </a:r>
          </a:p>
        </p:txBody>
      </p:sp>
      <p:sp>
        <p:nvSpPr>
          <p:cNvPr id="81" name="CardOAI"/>
          <p:cNvSpPr>
            <a:spLocks noGrp="1"/>
          </p:cNvSpPr>
          <p:nvPr/>
        </p:nvSpPr>
        <p:spPr>
          <a:xfrm>
            <a:off x="7100000" y="162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10A37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2600" b="1">
                <a:solidFill>
                  <a:srgbClr val="10A37F"/>
                </a:solidFill>
              </a:rPr>
              <a:t>✦</a:t>
            </a:r>
          </a:p>
        </p:txBody>
      </p:sp>
      <p:sp>
        <p:nvSpPr>
          <p:cNvPr id="82" name="LblOAI"/>
          <p:cNvSpPr>
            <a:spLocks noGrp="1"/>
          </p:cNvSpPr>
          <p:nvPr/>
        </p:nvSpPr>
        <p:spPr>
          <a:xfrm>
            <a:off x="7050000" y="254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OpenAI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GPT-4o mini</a:t>
            </a:r>
          </a:p>
        </p:txBody>
      </p:sp>
      <p:sp>
        <p:nvSpPr>
          <p:cNvPr id="83" name="CardAES"/>
          <p:cNvSpPr>
            <a:spLocks noGrp="1"/>
          </p:cNvSpPr>
          <p:nvPr/>
        </p:nvSpPr>
        <p:spPr>
          <a:xfrm>
            <a:off x="7100000" y="2960000"/>
            <a:ext cx="900000" cy="9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000">
            <a:solidFill>
              <a:srgbClr val="E63946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s-CL" sz="1800" b="1">
                <a:solidFill>
                  <a:srgbClr val="E63946"/>
                </a:solidFill>
              </a:rPr>
              <a:t>🔐</a:t>
            </a:r>
          </a:p>
        </p:txBody>
      </p:sp>
      <p:sp>
        <p:nvSpPr>
          <p:cNvPr id="84" name="LblAES"/>
          <p:cNvSpPr>
            <a:spLocks noGrp="1"/>
          </p:cNvSpPr>
          <p:nvPr/>
        </p:nvSpPr>
        <p:spPr>
          <a:xfrm>
            <a:off x="7050000" y="3880000"/>
            <a:ext cx="1000000" cy="350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algn="ctr"/>
            <a:r>
              <a:rPr lang="es-CL" sz="1000" b="1">
                <a:solidFill>
                  <a:srgbClr val="1A3E52"/>
                </a:solidFill>
              </a:rPr>
              <a:t>AES-256-GCM</a:t>
            </a:r>
          </a:p>
          <a:p>
            <a:pPr algn="ctr"/>
            <a:r>
              <a:rPr lang="es-CL" sz="850" b="0">
                <a:solidFill>
                  <a:srgbClr val="666666"/>
                </a:solidFill>
              </a:rPr>
              <a:t>JWT + SMTP</a:t>
            </a:r>
          </a:p>
        </p:txBody>
      </p:sp>
      <p:sp>
        <p:nvSpPr>
          <p:cNvPr id="99" name="BotBand"/>
          <p:cNvSpPr>
            <a:spLocks noGrp="1"/>
          </p:cNvSpPr>
          <p:nvPr/>
        </p:nvSpPr>
        <p:spPr>
          <a:xfrm>
            <a:off x="0" y="5830000"/>
            <a:ext cx="9144000" cy="270000"/>
          </a:xfrm>
          <a:prstGeom prst="rect">
            <a:avLst/>
          </a:prstGeom>
          <a:solidFill>
            <a:srgbClr val="1A3E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DotsLow"/>
          <p:cNvSpPr>
            <a:spLocks noGrp="1"/>
          </p:cNvSpPr>
          <p:nvPr/>
        </p:nvSpPr>
        <p:spPr>
          <a:xfrm>
            <a:off x="50000" y="5400000"/>
            <a:ext cx="350000" cy="28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r>
              <a:rPr lang="es-CL" sz="700" b="0">
                <a:solidFill>
                  <a:srgbClr val="2D6A8F"/>
                </a:solidFill>
              </a:rPr>
              <a:t>● ● ● ●
● ● ● ●
● ● ● ●
● ● ● 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>
            <a:spLocks noGrp="1"/>
          </p:cNvSpPr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A3E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Dots"/>
          <p:cNvSpPr>
            <a:spLocks noGrp="1"/>
          </p:cNvSpPr>
          <p:nvPr/>
        </p:nvSpPr>
        <p:spPr>
          <a:xfrm>
            <a:off x="8600000" y="50000"/>
            <a:ext cx="450000" cy="3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r>
              <a:rPr lang="es-CL" sz="800" b="0">
                <a:solidFill>
                  <a:srgbClr val="2D6A8F"/>
                </a:solidFill>
              </a:rPr>
              <a:t>● ● ● ●
● ● ● ●
● ● ● ●
● ● ● ●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300000" y="150000"/>
            <a:ext cx="7000000" cy="75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s-CL" sz="3200" b="1">
                <a:solidFill>
                  <a:srgbClr val="FFFFFF"/>
                </a:solidFill>
              </a:rPr>
              <a:t>Arquitectura  </a:t>
            </a:r>
            <a:r>
              <a:rPr lang="es-CL" sz="2000" b="0" i="1">
                <a:solidFill>
                  <a:srgbClr val="7DC4B8"/>
                </a:solidFill>
              </a:rPr>
              <a:t>MVC · Separation of Concerns</a:t>
            </a:r>
          </a:p>
        </p:txBody>
      </p:sp>
      <p:sp>
        <p:nvSpPr>
          <p:cNvPr id="90" name="DotsLow"/>
          <p:cNvSpPr>
            <a:spLocks noGrp="1"/>
          </p:cNvSpPr>
          <p:nvPr/>
        </p:nvSpPr>
        <p:spPr>
          <a:xfrm>
            <a:off x="50000" y="5400000"/>
            <a:ext cx="350000" cy="28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r>
              <a:rPr lang="es-CL" sz="700" b="0">
                <a:solidFill>
                  <a:srgbClr val="2D6A8F"/>
                </a:solidFill>
              </a:rPr>
              <a:t>● ● ● ●
● ● ● ●
● ● ● ●
● ● ● ●</a:t>
            </a:r>
          </a:p>
        </p:txBody>
      </p:sp>
      <p:sp>
        <p:nvSpPr>
          <p:cNvPr id="99" name="BotBand"/>
          <p:cNvSpPr>
            <a:spLocks noGrp="1"/>
          </p:cNvSpPr>
          <p:nvPr/>
        </p:nvSpPr>
        <p:spPr>
          <a:xfrm>
            <a:off x="0" y="5830000"/>
            <a:ext cx="9144000" cy="270000"/>
          </a:xfrm>
          <a:prstGeom prst="rect">
            <a:avLst/>
          </a:prstGeom>
          <a:solidFill>
            <a:srgbClr val="1A3E5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43D33FA-6971-C2C6-D5B0-80E62AD1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832" y="1250000"/>
            <a:ext cx="3338230" cy="3878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38862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2286000" y="2514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Login con cuenta @duocuc.cl</a:t>
            </a:r>
            <a:endParaRPr lang="en-US" sz="1200" dirty="0"/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nueva bitácora emocional</a:t>
            </a:r>
            <a:endParaRPr lang="en-US" sz="1200" dirty="0"/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Análisis IA con GPT-4o mini (resultado en tiempo real)</a:t>
            </a:r>
            <a:endParaRPr lang="en-US" sz="1200" dirty="0"/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Dashboard con tendencias emocionales</a:t>
            </a:r>
            <a:endParaRPr lang="en-US" sz="1200" dirty="0"/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Sistema de alertas al equipo de bienestar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automático del token JWT para sesiones largas sin interrupciones.</a:t>
            </a:r>
            <a:endParaRPr lang="en-US" sz="1150" dirty="0"/>
          </a:p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unitario completo con Pytest (backend) y Vitest (frontend).</a:t>
            </a:r>
            <a:endParaRPr lang="en-US" sz="1150" dirty="0"/>
          </a:p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producción: Vercel (frontend) + Railway (backend) + CI/CD GitHub Actions.</a:t>
            </a:r>
            <a:endParaRPr lang="en-US" sz="1150" dirty="0"/>
          </a:p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Ley 19.628: consentimiento explícito y derecho al olvido (DELETE account).</a:t>
            </a:r>
            <a:endParaRPr lang="en-US" sz="1150" dirty="0"/>
          </a:p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agregada anonimizada para el equipo de bienestar con estadísticas por carrera/sede.</a:t>
            </a:r>
            <a:endParaRPr lang="en-US" sz="1150" dirty="0"/>
          </a:p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app móvil nativa con React Native.</a:t>
            </a:r>
            <a:endParaRPr lang="en-US" sz="1150" dirty="0"/>
          </a:p>
          <a:p>
            <a:pPr marL="342900" indent="-342900">
              <a:spcBef>
                <a:spcPts val="700"/>
              </a:spcBef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 propio fine-tuned en español chileno para mayor precisión emocional.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8640" y="1078992"/>
            <a:ext cx="804672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640080" y="1207008"/>
            <a:ext cx="411480" cy="41148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4008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1207008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técnico cumplido: sistema funcional con autenticación JWT real, cifrado AES-256-GCM, integración OpenAI y alertas verificadas en Gmail.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" y="2121408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nivel bancario implementada: supera ampliamente los requisitos mínimos del proyecto, cumpliendo con IEEE 830-1998, ISO/IEC 25010 y Ley 19.628.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3035808"/>
            <a:ext cx="411480" cy="41148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64008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3000" y="3035808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 real: MindCheck AI resuelve una problemática concreta para estudiantes universitarios chilenos sin herramientas digitales de apoyo emocional.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3950208"/>
            <a:ext cx="411480" cy="41148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64008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3000" y="3950208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profesional: el proyecto integra las 4 competencias del perfil de egreso (C2, C3, C4, C5) con tecnologías de alta demanda en la industria TI.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6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11480" y="411480"/>
            <a:ext cx="8321040" cy="432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02920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12648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22376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32104" y="43891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12648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22376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32104" y="44988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2648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22376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2104" y="46085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12648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2376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02168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311896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421624" y="502920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92440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02168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311896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421624" y="612648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092440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02168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11896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421624" y="722376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092440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02168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311896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8421624" y="832104"/>
            <a:ext cx="64008" cy="64008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743200" y="3108960"/>
            <a:ext cx="3657600" cy="27432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Nataly Valesca Tobar Gallardo  ·  Ingeniería en Informática  ·  Duoc UC San Joaquín  · 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 AI  ·  DUC-BWM-2025-001  ·  v0.2.0  ·  React · FastAPI · Supabase · GPT-4o mini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3E52"/>
      </a:dk2>
      <a:lt2>
        <a:srgbClr val="E7E6E6"/>
      </a:lt2>
      <a:accent1>
        <a:srgbClr val="2D6A8F"/>
      </a:accent1>
      <a:accent2>
        <a:srgbClr val="5B9FA0"/>
      </a:accent2>
      <a:accent3>
        <a:srgbClr val="3D9A8B"/>
      </a:accent3>
      <a:accent4>
        <a:srgbClr val="A8C8DC"/>
      </a:accent4>
      <a:accent5>
        <a:srgbClr val="7DC4B8"/>
      </a:accent5>
      <a:accent6>
        <a:srgbClr val="1A3E5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1152</Words>
  <Application>Microsoft Office PowerPoint</Application>
  <PresentationFormat>Presentación en pantalla (16:9)</PresentationFormat>
  <Paragraphs>162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MindCheck AI - Presentación Final Proyecto</dc:title>
  <dc:subject>PptxGenJS Presentation</dc:subject>
  <dc:creator>Nataly Valesca Tobar Gallardo</dc:creator>
  <cp:lastModifiedBy>NATALY VALESCA TOBAR GALLARDO</cp:lastModifiedBy>
  <cp:revision>3</cp:revision>
  <dcterms:created xsi:type="dcterms:W3CDTF">2026-06-11T20:00:31Z</dcterms:created>
  <dcterms:modified xsi:type="dcterms:W3CDTF">2026-06-19T21:32:13Z</dcterms:modified>
</cp:coreProperties>
</file>