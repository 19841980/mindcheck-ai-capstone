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8" r:id="rId10"/>
    <p:sldId id="269" r:id="rId11"/>
    <p:sldId id="263" r:id="rId12"/>
    <p:sldId id="264" r:id="rId13"/>
    <p:sldId id="265" r:id="rId14"/>
    <p:sldId id="266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2136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7B654-C74E-85CE-1DB4-473966239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C3CD88-A1AA-0482-0CAC-2C8258A5C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CD476C-EFFB-C2C8-B8BD-6B6AE049F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EEABF-CB8E-B47B-6056-CFFDD9DE88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914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D4D0E-E1A5-959D-C30A-A531E54CC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B40B8E-E57E-AD9C-5942-59870E2A4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9A2BBF-4438-0343-A39E-2412E77DA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A6A35-7522-26A8-8E29-523DC1016A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148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750F2-D3EC-F877-AE24-61102185D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5CA591-0AC6-DD82-DFB3-AE8AE919EE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23C353-E2D7-69E6-E1DB-E6BA08D50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5EBC4-7479-5006-835F-82F7DBFF0A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9918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37160" y="0"/>
            <a:ext cx="9006840" cy="18288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1097280" cy="1097280"/>
          </a:xfrm>
          <a:prstGeom prst="ellipse">
            <a:avLst/>
          </a:prstGeom>
          <a:solidFill>
            <a:srgbClr val="1C1C1E"/>
          </a:solidFill>
          <a:ln w="381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22960" y="685800"/>
            <a:ext cx="365760" cy="36576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1737360" y="1828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MindCheck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983480" y="182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737360" y="9601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Monitoreo Preventivo del Bienestar Emocional Estudiantil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" y="1828800"/>
            <a:ext cx="900684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Capstone  ·  PTY4614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— Plan 1446114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 San Joaquín  ·  Semestre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Nataly Valesca Tobar Gallardo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Código: DUC-BWM-2025-001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606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v0.2.0  ·  Junio 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1280160" cy="25603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457200" y="3063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74520" y="3063240"/>
            <a:ext cx="128016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1874520" y="3063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3063240"/>
            <a:ext cx="1280160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3291840" y="3063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3063240"/>
            <a:ext cx="128016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4709160" y="3063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3063240"/>
            <a:ext cx="1280160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6126480" y="3063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8503920" cy="1371600"/>
          </a:xfrm>
          <a:prstGeom prst="rect">
            <a:avLst/>
          </a:prstGeom>
          <a:solidFill>
            <a:srgbClr val="0D2B0D"/>
          </a:solidFill>
          <a:ln w="12700">
            <a:solidFill>
              <a:srgbClr val="0D2B0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57200" y="3520440"/>
            <a:ext cx="54864" cy="13716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9144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0" y="4069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78608" y="3813048"/>
            <a:ext cx="320040" cy="36576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29260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926080" y="4069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90288" y="3813048"/>
            <a:ext cx="320040" cy="36576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493776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937760" y="4069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IA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601968" y="3813048"/>
            <a:ext cx="320040" cy="36576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69494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949440" y="4069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+ Deploy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228600" y="137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0" y="274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relevancia del proyecto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8503920" cy="12801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743200" y="12344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estudiantes universitarios en Chile reportan niveles significativos de estrés, ansiedad o agotamiento académico sin acceso a herramientas digitales de apoyo oportuno.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2697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365760" y="2606040"/>
            <a:ext cx="2697480" cy="548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365760" y="27432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5760" y="33375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tardía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7490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no reconocen señales de alerta emocional hasta que el problema es crítico.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2606040"/>
            <a:ext cx="2697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3246120" y="2606040"/>
            <a:ext cx="2697480" cy="548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3246120" y="27432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🔕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246120" y="33375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herramientas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7490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plataforma institucional accesible y privada para el automonitoreo emocional.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2606040"/>
            <a:ext cx="2697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6126480" y="2606040"/>
            <a:ext cx="2697480" cy="548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6126480" y="27432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126480" y="33375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Intervención lenta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37490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de bienestar de Duoc UC no recibe alertas tempranas automáticas de casos de riesgo.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228600" y="137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50392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MindCheck AI es una Progressive Web App (PWA) que permite a los estudiantes de Duoc UC registrar su estado emocional diario, recibir análisis con Inteligencia Artificial y activar alertas automáticas al equipo de bienestar cuando se detectan patrones de riesgo.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103120"/>
            <a:ext cx="2011680" cy="27432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320040" y="2103120"/>
            <a:ext cx="201168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320040" y="2240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004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Emocional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2918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diario de texto libre. Cifrado AES-256-GCM antes de llegar a la BD.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2103120"/>
            <a:ext cx="2011680" cy="27432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2468880" y="2103120"/>
            <a:ext cx="201168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2468880" y="2240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46888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IA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32918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 analiza el texto en español chileno. 4 niveles de riesgo.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2103120"/>
            <a:ext cx="2011680" cy="27432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4617720" y="2103120"/>
            <a:ext cx="201168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4617720" y="2240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61772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Inteligentes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32918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patrones → alerta en BD → correo SMTP al equipo de bienestar.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0" y="2103120"/>
            <a:ext cx="2011680" cy="27432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6766560" y="2103120"/>
            <a:ext cx="2011680" cy="7315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6766560" y="2240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76656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Personal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32918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Recharts con tendencias emocionales reales. Filtros 7d/30d/90d.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228600" y="137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Técnica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0" y="320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6 capas · IEEE 830-1998 · ISO/IEC 25010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2743200" cy="374904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42A5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2743200" cy="59436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320040" y="1170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490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 páginas funcionales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514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12 componentes atómicos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154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305 líneas design tokens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794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Dark mode completo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81528" y="2834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46120" y="1143000"/>
            <a:ext cx="2743200" cy="37490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3246120" y="1143000"/>
            <a:ext cx="2743200" cy="5943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3246120" y="1170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1490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000" y="1874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15 endpoints REST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2514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routers (JWT)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3154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AES-256-GCM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9000" y="3794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OpenAI GPT-4o mini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07608" y="2834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2200" y="1143000"/>
            <a:ext cx="2743200" cy="3749040"/>
          </a:xfrm>
          <a:prstGeom prst="roundRect">
            <a:avLst/>
          </a:prstGeom>
          <a:solidFill>
            <a:srgbClr val="FFFDE7"/>
          </a:solidFill>
          <a:ln w="25400">
            <a:solidFill>
              <a:srgbClr val="F9A82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6172200" y="1143000"/>
            <a:ext cx="2743200" cy="5943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6172200" y="1170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1490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Supabase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55080" y="1874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tablas relacionales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2514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RLS en todas las tablas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3154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Supabase Auth JWT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55080" y="3794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SHA-256 para RUT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228600" y="137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Proyecto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0" y="320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v0.2.0  ·  4 de junio de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19202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73152" cy="100584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~3.200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1143000"/>
            <a:ext cx="19202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2468880" y="1143000"/>
            <a:ext cx="73152" cy="10058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2606040" y="1234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~2.800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06040" y="17373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1143000"/>
            <a:ext cx="19202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4617720" y="1143000"/>
            <a:ext cx="73152" cy="100584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4754880" y="1234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54880" y="17373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66560" y="1143000"/>
            <a:ext cx="19202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6766560" y="1143000"/>
            <a:ext cx="73152" cy="10058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6903720" y="1234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903720" y="17373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BD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POR PRIORIDADES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2697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Seguridad JWT + Autenticación real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2743200"/>
            <a:ext cx="2560320" cy="228600"/>
          </a:xfrm>
          <a:prstGeom prst="roundRect">
            <a:avLst>
              <a:gd name="adj" fmla="val 20000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6217920" y="2743200"/>
            <a:ext cx="2560320" cy="228600"/>
          </a:xfrm>
          <a:prstGeom prst="roundRect">
            <a:avLst>
              <a:gd name="adj" fmla="val 20000"/>
            </a:avLst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8823960" y="2697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3520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Dashboard real + Alertas + Correo SMTP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3566160"/>
            <a:ext cx="2560320" cy="228600"/>
          </a:xfrm>
          <a:prstGeom prst="roundRect">
            <a:avLst>
              <a:gd name="adj" fmla="val 20000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6217920" y="3566160"/>
            <a:ext cx="2560320" cy="228600"/>
          </a:xfrm>
          <a:prstGeom prst="roundRect">
            <a:avLst>
              <a:gd name="adj" fmla="val 20000"/>
            </a:avLst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8823960" y="3520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343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— Conexión páginas, Testing, Deploy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4389120"/>
            <a:ext cx="2560320" cy="228600"/>
          </a:xfrm>
          <a:prstGeom prst="roundRect">
            <a:avLst>
              <a:gd name="adj" fmla="val 20000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6217920" y="4389120"/>
            <a:ext cx="512064" cy="228600"/>
          </a:xfrm>
          <a:prstGeom prst="roundRect">
            <a:avLst>
              <a:gd name="adj" fmla="val 20000"/>
            </a:avLst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8823960" y="4343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19 commits en GitHub  ·  12 componentes React  ·  14 variables de entorno  ·  8 pruebas smoke ✅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228600" y="137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Privacidad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32320" y="320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19.628 · ISO/IEC 25010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1605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64008" cy="10789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50292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HS256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16276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real con Supabase Auth. Token verificado server-side en security.py. Restricción @duocuc.cl.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00600" y="1188720"/>
            <a:ext cx="41605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4800600" y="1188720"/>
            <a:ext cx="64008" cy="10789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93776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7784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16276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de bitácoras emocionales antes de almacenarlas en BD. Estándar de seguridad bancaria.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423160"/>
            <a:ext cx="41605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365760" y="2423160"/>
            <a:ext cx="64008" cy="10789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502920" y="2532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4300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Supabase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28620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políticas en 5 tablas. Ningún usuario puede acceder a datos de otro. Applied to: authenticated.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2423160"/>
            <a:ext cx="41605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4800600" y="2423160"/>
            <a:ext cx="64008" cy="10789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4937760" y="2532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#️⃣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7784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+ salt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28620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RUT del estudiante se hashea antes de almacenarse. Nunca se guarda en texto plano.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657600"/>
            <a:ext cx="41605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365760" y="3657600"/>
            <a:ext cx="64008" cy="10789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502920" y="3767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14300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en correos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43000" y="409651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correos de alerta contienen solo metadata (nivel, sede, carrera, timestamp). Sin texto de la bitácora.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3657600"/>
            <a:ext cx="41605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4800600" y="3657600"/>
            <a:ext cx="64008" cy="10789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4937760" y="3767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57784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19.628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77840" y="409651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de consentimiento en BD. Derecho al olvido (DELETE account) pendiente en P3.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228600" y="137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Técnicas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743200" cy="1691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2743200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457200" y="1353312"/>
            <a:ext cx="411480" cy="41148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45720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1389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GitHub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commits trazables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backend/frontend/docs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743200" cy="1691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3246120" y="1188720"/>
            <a:ext cx="2743200" cy="640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3383280" y="1353312"/>
            <a:ext cx="411480" cy="4114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338328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86200" y="1389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1874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endpoints documentados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 3.1 + Pydantic schemas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1188720"/>
            <a:ext cx="2743200" cy="1691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6172200" y="1188720"/>
            <a:ext cx="2743200" cy="640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6309360" y="1353312"/>
            <a:ext cx="411480" cy="41148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630936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12280" y="1389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en vivo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1874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Recharts con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reales de la BD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063240"/>
            <a:ext cx="2743200" cy="1691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320040" y="3063240"/>
            <a:ext cx="274320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457200" y="3227832"/>
            <a:ext cx="411480" cy="41148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45720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0120" y="32644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de alerta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7490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profesional recibido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Gmail ✅ verificado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46120" y="3063240"/>
            <a:ext cx="2743200" cy="1691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3246120" y="3063240"/>
            <a:ext cx="2743200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3383280" y="3227832"/>
            <a:ext cx="411480" cy="41148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338328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86200" y="32644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en Supabase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83280" y="37490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políticas en 5 tablas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to: authenticated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72200" y="3063240"/>
            <a:ext cx="2743200" cy="1691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Shape 35"/>
          <p:cNvSpPr/>
          <p:nvPr/>
        </p:nvSpPr>
        <p:spPr>
          <a:xfrm>
            <a:off x="6172200" y="3063240"/>
            <a:ext cx="2743200" cy="640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Shape 36"/>
          <p:cNvSpPr/>
          <p:nvPr/>
        </p:nvSpPr>
        <p:spPr>
          <a:xfrm>
            <a:off x="6309360" y="3227832"/>
            <a:ext cx="411480" cy="4114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630936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12280" y="32644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@duocuc.cl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37490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Restricción institucional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funcionando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959142-B85B-D6C7-6CB3-E718068C2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15B5669-598A-3FD6-435A-E4DEF23EF7F9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9CEB539-61EE-E30E-535A-79A0E4D5C5F6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D73CA6F-DCFA-1FE1-651F-F0628836C341}"/>
              </a:ext>
            </a:extLst>
          </p:cNvPr>
          <p:cNvSpPr/>
          <p:nvPr/>
        </p:nvSpPr>
        <p:spPr>
          <a:xfrm>
            <a:off x="228600" y="137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C40469B-8497-34DE-1344-8E645C1D6537}"/>
              </a:ext>
            </a:extLst>
          </p:cNvPr>
          <p:cNvSpPr/>
          <p:nvPr/>
        </p:nvSpPr>
        <p:spPr>
          <a:xfrm>
            <a:off x="1005840" y="182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Técnicas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33F3155-5BD7-502A-F42A-B25AB38814AE}"/>
              </a:ext>
            </a:extLst>
          </p:cNvPr>
          <p:cNvSpPr/>
          <p:nvPr/>
        </p:nvSpPr>
        <p:spPr>
          <a:xfrm>
            <a:off x="392334" y="1188720"/>
            <a:ext cx="6587586" cy="1691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E1D8AEA-F03B-1941-A302-A168EBF351FF}"/>
              </a:ext>
            </a:extLst>
          </p:cNvPr>
          <p:cNvSpPr/>
          <p:nvPr/>
        </p:nvSpPr>
        <p:spPr>
          <a:xfrm flipV="1">
            <a:off x="320040" y="1133094"/>
            <a:ext cx="6400800" cy="6324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E61CDFE-4F57-A52E-561C-D07EB05FD48E}"/>
              </a:ext>
            </a:extLst>
          </p:cNvPr>
          <p:cNvSpPr/>
          <p:nvPr/>
        </p:nvSpPr>
        <p:spPr>
          <a:xfrm>
            <a:off x="457200" y="1353312"/>
            <a:ext cx="411480" cy="41148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8644B8C-036F-3459-AC37-1C4A95E17441}"/>
              </a:ext>
            </a:extLst>
          </p:cNvPr>
          <p:cNvSpPr/>
          <p:nvPr/>
        </p:nvSpPr>
        <p:spPr>
          <a:xfrm>
            <a:off x="45720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CE045CB-F6BA-D9F6-D824-F123669A86FF}"/>
              </a:ext>
            </a:extLst>
          </p:cNvPr>
          <p:cNvSpPr/>
          <p:nvPr/>
        </p:nvSpPr>
        <p:spPr>
          <a:xfrm>
            <a:off x="960120" y="1389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GitHub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D9D0CDD-A1AC-4864-7DAA-6195CB1092CF}"/>
              </a:ext>
            </a:extLst>
          </p:cNvPr>
          <p:cNvSpPr/>
          <p:nvPr/>
        </p:nvSpPr>
        <p:spPr>
          <a:xfrm>
            <a:off x="457200" y="1874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C4C0338-9AB0-F03A-BE52-87A4EE644D79}"/>
              </a:ext>
            </a:extLst>
          </p:cNvPr>
          <p:cNvSpPr/>
          <p:nvPr/>
        </p:nvSpPr>
        <p:spPr>
          <a:xfrm>
            <a:off x="502920" y="3314700"/>
            <a:ext cx="6477000" cy="1691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4CAF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CAF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Swagger UI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69F023B-4A4C-CE6C-EC73-5EF96E547E16}"/>
              </a:ext>
            </a:extLst>
          </p:cNvPr>
          <p:cNvSpPr/>
          <p:nvPr/>
        </p:nvSpPr>
        <p:spPr>
          <a:xfrm flipV="1">
            <a:off x="365760" y="3223261"/>
            <a:ext cx="6355080" cy="45719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4195F64-F1C8-B502-F9B4-B73F600AC63D}"/>
              </a:ext>
            </a:extLst>
          </p:cNvPr>
          <p:cNvSpPr/>
          <p:nvPr/>
        </p:nvSpPr>
        <p:spPr>
          <a:xfrm>
            <a:off x="594360" y="3406140"/>
            <a:ext cx="411480" cy="4114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20FF7DE-EA79-FEE5-D229-F723CB4A1E26}"/>
              </a:ext>
            </a:extLst>
          </p:cNvPr>
          <p:cNvSpPr/>
          <p:nvPr/>
        </p:nvSpPr>
        <p:spPr>
          <a:xfrm>
            <a:off x="594360" y="34335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C200FE8-4F1F-011D-1537-FCD21D7404ED}"/>
              </a:ext>
            </a:extLst>
          </p:cNvPr>
          <p:cNvSpPr/>
          <p:nvPr/>
        </p:nvSpPr>
        <p:spPr>
          <a:xfrm>
            <a:off x="3886200" y="1389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D62A75E-3F75-7E5B-7C50-B7F10C65194E}"/>
              </a:ext>
            </a:extLst>
          </p:cNvPr>
          <p:cNvSpPr/>
          <p:nvPr/>
        </p:nvSpPr>
        <p:spPr>
          <a:xfrm>
            <a:off x="3383280" y="1874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ED550D5-A08C-9ADA-4E28-5FECBDF9EE68}"/>
              </a:ext>
            </a:extLst>
          </p:cNvPr>
          <p:cNvSpPr/>
          <p:nvPr/>
        </p:nvSpPr>
        <p:spPr>
          <a:xfrm>
            <a:off x="630936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13D6D9E-9358-E00D-632F-F9F39B667297}"/>
              </a:ext>
            </a:extLst>
          </p:cNvPr>
          <p:cNvSpPr/>
          <p:nvPr/>
        </p:nvSpPr>
        <p:spPr>
          <a:xfrm>
            <a:off x="45720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8D80659-BA6F-673B-6ECE-A908E33A6DB3}"/>
              </a:ext>
            </a:extLst>
          </p:cNvPr>
          <p:cNvSpPr/>
          <p:nvPr/>
        </p:nvSpPr>
        <p:spPr>
          <a:xfrm>
            <a:off x="457200" y="37490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93A931A-0573-C389-AB6C-A7D5D6E7E76F}"/>
              </a:ext>
            </a:extLst>
          </p:cNvPr>
          <p:cNvSpPr/>
          <p:nvPr/>
        </p:nvSpPr>
        <p:spPr>
          <a:xfrm>
            <a:off x="338328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0AA5D5A4-888B-D3D3-8AE7-A8CC6CE1CA1A}"/>
              </a:ext>
            </a:extLst>
          </p:cNvPr>
          <p:cNvSpPr/>
          <p:nvPr/>
        </p:nvSpPr>
        <p:spPr>
          <a:xfrm>
            <a:off x="630936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8AE0B9FA-11B5-65F8-0961-D0C9D391EE5C}"/>
              </a:ext>
            </a:extLst>
          </p:cNvPr>
          <p:cNvSpPr/>
          <p:nvPr/>
        </p:nvSpPr>
        <p:spPr>
          <a:xfrm>
            <a:off x="6812280" y="32644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33737101-4AD3-325E-F18A-4C3E8DBC7F86}"/>
              </a:ext>
            </a:extLst>
          </p:cNvPr>
          <p:cNvSpPr/>
          <p:nvPr/>
        </p:nvSpPr>
        <p:spPr>
          <a:xfrm>
            <a:off x="6309360" y="37490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50" dirty="0"/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C1B6F832-FA42-2666-A44B-D36F6460D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504" y="1389888"/>
            <a:ext cx="4706776" cy="1392936"/>
          </a:xfrm>
          <a:prstGeom prst="rect">
            <a:avLst/>
          </a:prstGeom>
        </p:spPr>
      </p:pic>
      <p:pic>
        <p:nvPicPr>
          <p:cNvPr id="50" name="Imagen 49">
            <a:extLst>
              <a:ext uri="{FF2B5EF4-FFF2-40B4-BE49-F238E27FC236}">
                <a16:creationId xmlns:a16="http://schemas.microsoft.com/office/drawing/2014/main" id="{18CA84BB-E936-9936-0AE2-AF9B3480F7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504" y="3558540"/>
            <a:ext cx="4615336" cy="12854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76502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7CB0D4-7DCD-0BC8-04B6-3B833FEE4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0D1080-F85B-4A2B-BA68-5FB31A28F92C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EBBD79E-B57E-439C-813A-C7F314936186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83C5385-C052-AF86-B5EC-7D7F040B680A}"/>
              </a:ext>
            </a:extLst>
          </p:cNvPr>
          <p:cNvSpPr/>
          <p:nvPr/>
        </p:nvSpPr>
        <p:spPr>
          <a:xfrm>
            <a:off x="228600" y="137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46F470F-3A18-208A-CB93-EBE4238C00BD}"/>
              </a:ext>
            </a:extLst>
          </p:cNvPr>
          <p:cNvSpPr/>
          <p:nvPr/>
        </p:nvSpPr>
        <p:spPr>
          <a:xfrm>
            <a:off x="1005840" y="182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Técnicas</a:t>
            </a:r>
            <a:endParaRPr lang="en-US" sz="2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309C6DA-BB7E-842D-22D6-D9C44ABDC0A0}"/>
              </a:ext>
            </a:extLst>
          </p:cNvPr>
          <p:cNvSpPr/>
          <p:nvPr/>
        </p:nvSpPr>
        <p:spPr>
          <a:xfrm>
            <a:off x="45720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B648708-9748-BED9-D7E7-ED01015E7D28}"/>
              </a:ext>
            </a:extLst>
          </p:cNvPr>
          <p:cNvSpPr/>
          <p:nvPr/>
        </p:nvSpPr>
        <p:spPr>
          <a:xfrm>
            <a:off x="457200" y="18745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C1F7D39-3064-78A5-1215-B6B455B73822}"/>
              </a:ext>
            </a:extLst>
          </p:cNvPr>
          <p:cNvSpPr/>
          <p:nvPr/>
        </p:nvSpPr>
        <p:spPr>
          <a:xfrm>
            <a:off x="3383280" y="1874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21E7D1C-A3CF-BBEF-F789-CD7CD9AF30F9}"/>
              </a:ext>
            </a:extLst>
          </p:cNvPr>
          <p:cNvSpPr/>
          <p:nvPr/>
        </p:nvSpPr>
        <p:spPr>
          <a:xfrm>
            <a:off x="320040" y="1188720"/>
            <a:ext cx="5570220" cy="1691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00C85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C85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Dashboard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C85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C85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vivo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48F55D9-4AC4-CD32-72D6-E0C21E012ED2}"/>
              </a:ext>
            </a:extLst>
          </p:cNvPr>
          <p:cNvSpPr/>
          <p:nvPr/>
        </p:nvSpPr>
        <p:spPr>
          <a:xfrm>
            <a:off x="320040" y="1082040"/>
            <a:ext cx="2743200" cy="640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0B18405-609A-573B-4BFD-CE79CFCEF82F}"/>
              </a:ext>
            </a:extLst>
          </p:cNvPr>
          <p:cNvSpPr/>
          <p:nvPr/>
        </p:nvSpPr>
        <p:spPr>
          <a:xfrm>
            <a:off x="457200" y="1220724"/>
            <a:ext cx="411480" cy="41148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4701A52-4C2B-0434-1F22-4FDFC210907F}"/>
              </a:ext>
            </a:extLst>
          </p:cNvPr>
          <p:cNvSpPr/>
          <p:nvPr/>
        </p:nvSpPr>
        <p:spPr>
          <a:xfrm>
            <a:off x="552450" y="1225296"/>
            <a:ext cx="2209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0185D07-2DB2-27AE-FEDF-FABDAA842C92}"/>
              </a:ext>
            </a:extLst>
          </p:cNvPr>
          <p:cNvSpPr/>
          <p:nvPr/>
        </p:nvSpPr>
        <p:spPr>
          <a:xfrm>
            <a:off x="6812280" y="1389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A847321-CC50-9DB3-701E-6CCB4EC20863}"/>
              </a:ext>
            </a:extLst>
          </p:cNvPr>
          <p:cNvSpPr/>
          <p:nvPr/>
        </p:nvSpPr>
        <p:spPr>
          <a:xfrm>
            <a:off x="6309360" y="1874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842E726-17EE-4DD3-60FF-E3A1B51CF2E6}"/>
              </a:ext>
            </a:extLst>
          </p:cNvPr>
          <p:cNvSpPr/>
          <p:nvPr/>
        </p:nvSpPr>
        <p:spPr>
          <a:xfrm>
            <a:off x="297180" y="3084195"/>
            <a:ext cx="5593080" cy="1691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257265E-6273-6786-B60A-D2B12A841D0A}"/>
              </a:ext>
            </a:extLst>
          </p:cNvPr>
          <p:cNvSpPr/>
          <p:nvPr/>
        </p:nvSpPr>
        <p:spPr>
          <a:xfrm>
            <a:off x="320040" y="3063240"/>
            <a:ext cx="274320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36135D7F-BE4F-2AE0-0A40-EDE46E05187D}"/>
              </a:ext>
            </a:extLst>
          </p:cNvPr>
          <p:cNvSpPr/>
          <p:nvPr/>
        </p:nvSpPr>
        <p:spPr>
          <a:xfrm>
            <a:off x="457200" y="3227832"/>
            <a:ext cx="411480" cy="41148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3B15DCE-2C1F-9766-BC23-3D67E7FD134A}"/>
              </a:ext>
            </a:extLst>
          </p:cNvPr>
          <p:cNvSpPr/>
          <p:nvPr/>
        </p:nvSpPr>
        <p:spPr>
          <a:xfrm>
            <a:off x="45720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103D7D5-1AFC-BAF2-2CD4-82292CA9FDA8}"/>
              </a:ext>
            </a:extLst>
          </p:cNvPr>
          <p:cNvSpPr/>
          <p:nvPr/>
        </p:nvSpPr>
        <p:spPr>
          <a:xfrm>
            <a:off x="960120" y="32644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de alerta</a:t>
            </a:r>
            <a:endParaRPr lang="en-US" sz="11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B790AFB-969F-86D1-4DAE-95A96C9B0048}"/>
              </a:ext>
            </a:extLst>
          </p:cNvPr>
          <p:cNvSpPr/>
          <p:nvPr/>
        </p:nvSpPr>
        <p:spPr>
          <a:xfrm>
            <a:off x="457200" y="37490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50DA43E-DDA1-F0CD-E4DC-BCB074DE4B49}"/>
              </a:ext>
            </a:extLst>
          </p:cNvPr>
          <p:cNvSpPr/>
          <p:nvPr/>
        </p:nvSpPr>
        <p:spPr>
          <a:xfrm>
            <a:off x="338328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A446BBB2-4C27-6E31-12E1-F9595AD24AC6}"/>
              </a:ext>
            </a:extLst>
          </p:cNvPr>
          <p:cNvSpPr/>
          <p:nvPr/>
        </p:nvSpPr>
        <p:spPr>
          <a:xfrm>
            <a:off x="6309360" y="37490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50" dirty="0"/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7FFAF271-EDCB-C1FC-F823-3CFE797259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161" y="1213485"/>
            <a:ext cx="3276600" cy="1644650"/>
          </a:xfrm>
          <a:prstGeom prst="rect">
            <a:avLst/>
          </a:prstGeom>
          <a:noFill/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B423FF78-53C6-CB00-3B2C-B1267DADB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3170684"/>
            <a:ext cx="3200399" cy="156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820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147807-7911-2BAE-87C8-3F90333CD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F0EA558-B526-D677-1184-31138EAA8B8E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23B0E4C-A941-5CD3-E5A2-2A924A956B3E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52AAD67-428C-DF0F-7537-72ABB61DB2CC}"/>
              </a:ext>
            </a:extLst>
          </p:cNvPr>
          <p:cNvSpPr/>
          <p:nvPr/>
        </p:nvSpPr>
        <p:spPr>
          <a:xfrm>
            <a:off x="228600" y="137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5311BBB-900A-6125-8F32-367D74D2084A}"/>
              </a:ext>
            </a:extLst>
          </p:cNvPr>
          <p:cNvSpPr/>
          <p:nvPr/>
        </p:nvSpPr>
        <p:spPr>
          <a:xfrm>
            <a:off x="1005840" y="182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Técnicas</a:t>
            </a:r>
            <a:endParaRPr lang="en-US" sz="2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6ED128D-80C9-3906-41D6-09CEF41679CC}"/>
              </a:ext>
            </a:extLst>
          </p:cNvPr>
          <p:cNvSpPr/>
          <p:nvPr/>
        </p:nvSpPr>
        <p:spPr>
          <a:xfrm>
            <a:off x="45720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4757753-40CF-1B88-5A41-5BC782C05B9E}"/>
              </a:ext>
            </a:extLst>
          </p:cNvPr>
          <p:cNvSpPr/>
          <p:nvPr/>
        </p:nvSpPr>
        <p:spPr>
          <a:xfrm>
            <a:off x="960120" y="1389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04E6B6B-07E4-48D0-E9D6-603B3EF571C9}"/>
              </a:ext>
            </a:extLst>
          </p:cNvPr>
          <p:cNvSpPr/>
          <p:nvPr/>
        </p:nvSpPr>
        <p:spPr>
          <a:xfrm>
            <a:off x="457200" y="1874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750D2D7-6CC2-E122-2E4B-6825125A2C1E}"/>
              </a:ext>
            </a:extLst>
          </p:cNvPr>
          <p:cNvSpPr/>
          <p:nvPr/>
        </p:nvSpPr>
        <p:spPr>
          <a:xfrm>
            <a:off x="338328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8280F4B-941E-75AA-E8A1-F492C80BFB71}"/>
              </a:ext>
            </a:extLst>
          </p:cNvPr>
          <p:cNvSpPr/>
          <p:nvPr/>
        </p:nvSpPr>
        <p:spPr>
          <a:xfrm>
            <a:off x="3886200" y="1389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1612198-7268-D550-F0C5-7AAC75E11CAF}"/>
              </a:ext>
            </a:extLst>
          </p:cNvPr>
          <p:cNvSpPr/>
          <p:nvPr/>
        </p:nvSpPr>
        <p:spPr>
          <a:xfrm>
            <a:off x="630936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D19C779-A472-3D34-1A6C-BC95B0F3009E}"/>
              </a:ext>
            </a:extLst>
          </p:cNvPr>
          <p:cNvSpPr/>
          <p:nvPr/>
        </p:nvSpPr>
        <p:spPr>
          <a:xfrm>
            <a:off x="6309360" y="1874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3A89F80-D329-C6BF-444B-A3F46175C94A}"/>
              </a:ext>
            </a:extLst>
          </p:cNvPr>
          <p:cNvSpPr/>
          <p:nvPr/>
        </p:nvSpPr>
        <p:spPr>
          <a:xfrm>
            <a:off x="45720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A9A4407-1798-F69B-2558-257AEF6E6B87}"/>
              </a:ext>
            </a:extLst>
          </p:cNvPr>
          <p:cNvSpPr/>
          <p:nvPr/>
        </p:nvSpPr>
        <p:spPr>
          <a:xfrm>
            <a:off x="960120" y="32644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FC03CFB-CB6A-C568-5C90-CA3CE96C88F2}"/>
              </a:ext>
            </a:extLst>
          </p:cNvPr>
          <p:cNvSpPr/>
          <p:nvPr/>
        </p:nvSpPr>
        <p:spPr>
          <a:xfrm>
            <a:off x="457200" y="37490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309BC79-263A-419E-F69E-70DA4C82C493}"/>
              </a:ext>
            </a:extLst>
          </p:cNvPr>
          <p:cNvSpPr/>
          <p:nvPr/>
        </p:nvSpPr>
        <p:spPr>
          <a:xfrm>
            <a:off x="365760" y="1188720"/>
            <a:ext cx="6714808" cy="1929384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42A5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2A5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RLS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42A5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2A5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42A5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CDAA42F9-FA50-BAF0-D847-DD57CD90361A}"/>
              </a:ext>
            </a:extLst>
          </p:cNvPr>
          <p:cNvSpPr/>
          <p:nvPr/>
        </p:nvSpPr>
        <p:spPr>
          <a:xfrm>
            <a:off x="365760" y="1143000"/>
            <a:ext cx="6446520" cy="8458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716E38DD-8668-9CC3-0F02-B0B5C4D38B4E}"/>
              </a:ext>
            </a:extLst>
          </p:cNvPr>
          <p:cNvSpPr/>
          <p:nvPr/>
        </p:nvSpPr>
        <p:spPr>
          <a:xfrm>
            <a:off x="335280" y="1325880"/>
            <a:ext cx="411480" cy="41148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7CA7125-247B-07BB-FC8F-E806503A39D2}"/>
              </a:ext>
            </a:extLst>
          </p:cNvPr>
          <p:cNvSpPr/>
          <p:nvPr/>
        </p:nvSpPr>
        <p:spPr>
          <a:xfrm>
            <a:off x="335280" y="133731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075EA7C-7C78-E6E5-6DC9-89E7AB33B236}"/>
              </a:ext>
            </a:extLst>
          </p:cNvPr>
          <p:cNvSpPr/>
          <p:nvPr/>
        </p:nvSpPr>
        <p:spPr>
          <a:xfrm>
            <a:off x="3886200" y="32644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B43FAA01-6F06-3004-F1C9-1E40F1DD0F13}"/>
              </a:ext>
            </a:extLst>
          </p:cNvPr>
          <p:cNvSpPr/>
          <p:nvPr/>
        </p:nvSpPr>
        <p:spPr>
          <a:xfrm>
            <a:off x="3383280" y="37490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92C6F645-2DFF-297D-197C-ECA142331EEE}"/>
              </a:ext>
            </a:extLst>
          </p:cNvPr>
          <p:cNvSpPr/>
          <p:nvPr/>
        </p:nvSpPr>
        <p:spPr>
          <a:xfrm>
            <a:off x="388620" y="3291840"/>
            <a:ext cx="6652260" cy="1691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4CAF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CAF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Auth @duocuc.cl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2749CFB6-5D2D-D390-F98E-B3274AE26B14}"/>
              </a:ext>
            </a:extLst>
          </p:cNvPr>
          <p:cNvSpPr/>
          <p:nvPr/>
        </p:nvSpPr>
        <p:spPr>
          <a:xfrm>
            <a:off x="320040" y="3191256"/>
            <a:ext cx="649224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3AA58D4C-B164-BD29-142D-2E278A3C986A}"/>
              </a:ext>
            </a:extLst>
          </p:cNvPr>
          <p:cNvSpPr/>
          <p:nvPr/>
        </p:nvSpPr>
        <p:spPr>
          <a:xfrm>
            <a:off x="274320" y="3274695"/>
            <a:ext cx="411480" cy="4114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2811E28-4AD8-F114-E6A1-BB8672989FAE}"/>
              </a:ext>
            </a:extLst>
          </p:cNvPr>
          <p:cNvSpPr/>
          <p:nvPr/>
        </p:nvSpPr>
        <p:spPr>
          <a:xfrm>
            <a:off x="23622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02AE7FAA-0BCF-7AB8-6CE2-F28909C40268}"/>
              </a:ext>
            </a:extLst>
          </p:cNvPr>
          <p:cNvSpPr/>
          <p:nvPr/>
        </p:nvSpPr>
        <p:spPr>
          <a:xfrm>
            <a:off x="6309360" y="37490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50" dirty="0">
              <a:solidFill>
                <a:srgbClr val="B0BEC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43" name="Imagen 42">
            <a:extLst>
              <a:ext uri="{FF2B5EF4-FFF2-40B4-BE49-F238E27FC236}">
                <a16:creationId xmlns:a16="http://schemas.microsoft.com/office/drawing/2014/main" id="{4C296FB4-F18F-A061-368D-FC845E15DF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960" y="1250950"/>
            <a:ext cx="4425315" cy="584200"/>
          </a:xfrm>
          <a:prstGeom prst="rect">
            <a:avLst/>
          </a:prstGeom>
          <a:noFill/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537F9AB7-1AD9-81B1-DAF8-5353CA69EF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987" y="1823466"/>
            <a:ext cx="4426585" cy="591820"/>
          </a:xfrm>
          <a:prstGeom prst="rect">
            <a:avLst/>
          </a:prstGeom>
          <a:noFill/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B5E7DA34-DAFE-CCB0-028B-34090153EA0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327" y="2520061"/>
            <a:ext cx="4386580" cy="554355"/>
          </a:xfrm>
          <a:prstGeom prst="rect">
            <a:avLst/>
          </a:prstGeom>
          <a:noFill/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066C24CB-86F2-E3F7-E375-0319D62E46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8486" y="3337560"/>
            <a:ext cx="2353974" cy="156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789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228600" y="137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0" y="320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Cascada con Revisiones de Fase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503920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with Feedback Loops — Cada fase se completa antes de avanzar, con una revisión de calidad al cierre que permite ajustes controlados sin romper la secuencia planificada.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2011680" cy="301752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320040" y="1874520"/>
            <a:ext cx="201168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32004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2194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1-3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Diseño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Completada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246120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Schema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50008" y="32461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496312" y="1874520"/>
            <a:ext cx="2011680" cy="301752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2496312" y="1874520"/>
            <a:ext cx="201168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2496312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96312" y="2194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4-7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96312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96312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Completada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33472" y="3246120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Páginas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26280" y="32461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72584" y="1874520"/>
            <a:ext cx="2011680" cy="301752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4672584" y="1874520"/>
            <a:ext cx="201168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4672584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72584" y="2194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8-11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72584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72584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Completada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9744" y="3246120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02552" y="32461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848856" y="1874520"/>
            <a:ext cx="2011680" cy="30175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6848856" y="1874520"/>
            <a:ext cx="2011680" cy="5029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6848856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48856" y="2194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12-14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48856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48856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En curso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86016" y="3246120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228600" y="137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Calidad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0" y="320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Egreso — Plan 1446114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2743200" cy="17830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2743200" cy="7315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384048" y="1307592"/>
            <a:ext cx="457200" cy="45720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384048" y="1307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32688" y="13441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13258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185623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2.1 Planifica proyectos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19456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2.2 Controla proyectos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18688" y="1143000"/>
            <a:ext cx="2743200" cy="17830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3218688" y="1143000"/>
            <a:ext cx="2743200" cy="7315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3328416" y="1307592"/>
            <a:ext cx="457200" cy="45720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3328416" y="1307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77056" y="13441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Datos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87568" y="13258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01568" y="185623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3.1 Diseña modelos de datos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01568" y="219456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3.2 Implementa modelos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63056" y="1143000"/>
            <a:ext cx="2743200" cy="17830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6163056" y="1143000"/>
            <a:ext cx="2743200" cy="7315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6272784" y="1307592"/>
            <a:ext cx="457200" cy="45720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6272784" y="1307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21424" y="13441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Software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31936" y="13258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45936" y="185623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4.1 Construye solución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45936" y="219456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4.2 Integra componentes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45936" y="253288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4.3 Implanta solución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108960"/>
            <a:ext cx="2743200" cy="17830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274320" y="3108960"/>
            <a:ext cx="2743200" cy="7315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384048" y="3273552"/>
            <a:ext cx="457200" cy="45720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384048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32688" y="33101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 Integración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0" y="32918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" y="382219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JWT + Supabase Auth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16052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OpenAI API + SMTP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49884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AES-256-GCM + RLS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18688" y="3108960"/>
            <a:ext cx="2743200" cy="17830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Shape 40"/>
          <p:cNvSpPr/>
          <p:nvPr/>
        </p:nvSpPr>
        <p:spPr>
          <a:xfrm>
            <a:off x="3218688" y="3108960"/>
            <a:ext cx="274320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Shape 41"/>
          <p:cNvSpPr/>
          <p:nvPr/>
        </p:nvSpPr>
        <p:spPr>
          <a:xfrm>
            <a:off x="3328416" y="3273552"/>
            <a:ext cx="457200" cy="45720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4" name="Text 42"/>
          <p:cNvSpPr/>
          <p:nvPr/>
        </p:nvSpPr>
        <p:spPr>
          <a:xfrm>
            <a:off x="3328416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877056" y="33101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Calidad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687568" y="32918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401568" y="382219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1.1 Diseña pruebas ✓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401568" y="416052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1.2 Aplica pruebas ⬜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401568" y="449884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1.3 Mejoras ⬜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228600" y="137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— Prioridad 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0" y="320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· Semanas 12-14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85039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64008" cy="8412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685800" cy="228600"/>
          </a:xfrm>
          <a:prstGeom prst="roundRect">
            <a:avLst>
              <a:gd name="adj" fmla="val 1600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502920" y="13258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280160" y="1389888"/>
            <a:ext cx="365760" cy="36576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1280160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83080" y="12801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4 páginas a API real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16642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JournalPage · NewEntryPage · ResourcesPage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148840"/>
            <a:ext cx="85039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365760" y="2148840"/>
            <a:ext cx="64008" cy="8412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502920" y="2286000"/>
            <a:ext cx="685800" cy="228600"/>
          </a:xfrm>
          <a:prstGeom prst="roundRect">
            <a:avLst>
              <a:gd name="adj" fmla="val 1600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502920" y="22860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280160" y="2350008"/>
            <a:ext cx="365760" cy="36576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128016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783080" y="2240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unitarios Pytest + Vitest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83080" y="26243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journal_service · encryption_service · openai_client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108960"/>
            <a:ext cx="85039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A825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365760" y="3108960"/>
            <a:ext cx="64008" cy="84124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502920" y="3246120"/>
            <a:ext cx="685800" cy="228600"/>
          </a:xfrm>
          <a:prstGeom prst="roundRect">
            <a:avLst>
              <a:gd name="adj" fmla="val 16000"/>
            </a:avLst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502920" y="324612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280160" y="3310128"/>
            <a:ext cx="365760" cy="3657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128016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783080" y="3200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Vercel + Railway + CI/CD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783080" y="35844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HTTPS + HSTS · Entorno staging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069080"/>
            <a:ext cx="85039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A825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365760" y="4069080"/>
            <a:ext cx="64008" cy="84124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502920" y="4206240"/>
            <a:ext cx="685800" cy="228600"/>
          </a:xfrm>
          <a:prstGeom prst="roundRect">
            <a:avLst>
              <a:gd name="adj" fmla="val 16000"/>
            </a:avLst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502920" y="42062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280160" y="4270248"/>
            <a:ext cx="365760" cy="3657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1280160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783080" y="4160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19.628 — Endpoints pendientes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783080" y="45445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 · Derecho al olvido · Vista agregada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228600" y="137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e Impacto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60520" cy="16916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160520" cy="640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13533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técnico cumplido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84708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y P2 completadas al 100%. Sistema funcional con autenticación JWT real, cifrado AES-256-GCM, integración OpenAI y sistema de alertas verificado en Gmail.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160520" cy="16916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160520" cy="640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48920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0" y="13533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de seguridad bancaria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84708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AES-256-GCM, JWT HS256, RLS en 5 tablas y SHA-256 para RUT supera ampliamente los requisitos mínimos del proyecto.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4160520" cy="16916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4160520" cy="640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32278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social real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72160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MindCheck AI resuelve un problema concreto: estudiantes de Duoc UC sin herramientas de automonitoreo emocional preventivo accesibles y privadas.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3063240"/>
            <a:ext cx="4160520" cy="16916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4754880" y="3063240"/>
            <a:ext cx="4160520" cy="640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48920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0" y="32278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profesional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372160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individual que integra C2, C3, C4 y C5 del perfil de egreso con tecnologías de demanda real en la industria TI chilena.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37160" y="0"/>
            <a:ext cx="9006840" cy="22860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3566160" y="365760"/>
            <a:ext cx="2011680" cy="2011680"/>
          </a:xfrm>
          <a:prstGeom prst="ellipse">
            <a:avLst/>
          </a:prstGeom>
          <a:solidFill>
            <a:srgbClr val="1C1C1E"/>
          </a:solidFill>
          <a:ln w="381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4389120" y="1188720"/>
            <a:ext cx="365760" cy="36576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274320" y="24231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MindCheck AI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3246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bienestar mental estudiantil con inteligencia artificial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0" y="3749040"/>
            <a:ext cx="548640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274320" y="3886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Nataly Valesca Tobar Gallardo  ·  Ingeniería en Informática  ·  Duoc UC San Joaquín  · 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42519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PTY4614 Capstone  ·  DUC-BWM-2025-001  ·  v0.2.0  ·  React · FastAPI · Supabase · GPT-4o mini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46177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1133</Words>
  <Application>Microsoft Office PowerPoint</Application>
  <PresentationFormat>Presentación en pantalla (16:9)</PresentationFormat>
  <Paragraphs>300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MindCheck AI — Presentación Capstone Fase 2</dc:title>
  <dc:subject>PptxGenJS Presentation</dc:subject>
  <dc:creator>Nataly Valesca Tobar Gallardo</dc:creator>
  <cp:lastModifiedBy>NATALY VALESCA TOBAR GALLARDO</cp:lastModifiedBy>
  <cp:revision>2</cp:revision>
  <dcterms:created xsi:type="dcterms:W3CDTF">2026-06-05T23:19:54Z</dcterms:created>
  <dcterms:modified xsi:type="dcterms:W3CDTF">2026-06-11T18:49:07Z</dcterms:modified>
</cp:coreProperties>
</file>