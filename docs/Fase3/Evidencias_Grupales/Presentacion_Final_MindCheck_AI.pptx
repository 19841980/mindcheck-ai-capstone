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8385C-8A94-16F7-6EB1-03F10E2E1298}" v="5" dt="2026-06-19T20:49:20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Medina" userId="70e2d102fea2be0b" providerId="Windows Live" clId="Web-{28E8385C-8A94-16F7-6EB1-03F10E2E1298}"/>
    <pc:docChg chg="modSld">
      <pc:chgData name="Carolina Medina" userId="70e2d102fea2be0b" providerId="Windows Live" clId="Web-{28E8385C-8A94-16F7-6EB1-03F10E2E1298}" dt="2026-06-19T20:49:20.926" v="4" actId="14100"/>
      <pc:docMkLst>
        <pc:docMk/>
      </pc:docMkLst>
      <pc:sldChg chg="addSp modSp">
        <pc:chgData name="Carolina Medina" userId="70e2d102fea2be0b" providerId="Windows Live" clId="Web-{28E8385C-8A94-16F7-6EB1-03F10E2E1298}" dt="2026-06-19T20:49:20.926" v="4" actId="14100"/>
        <pc:sldMkLst>
          <pc:docMk/>
          <pc:sldMk cId="2391963198" sldId="256"/>
        </pc:sldMkLst>
        <pc:picChg chg="add mod">
          <ac:chgData name="Carolina Medina" userId="70e2d102fea2be0b" providerId="Windows Live" clId="Web-{28E8385C-8A94-16F7-6EB1-03F10E2E1298}" dt="2026-06-19T20:49:20.926" v="4" actId="14100"/>
          <ac:picMkLst>
            <pc:docMk/>
            <pc:sldMk cId="2391963198" sldId="256"/>
            <ac:picMk id="2" creationId="{940DD14E-9A2F-BEB9-BA28-E596FDF87D46}"/>
          </ac:picMkLst>
        </pc:picChg>
        <pc:picChg chg="mod">
          <ac:chgData name="Carolina Medina" userId="70e2d102fea2be0b" providerId="Windows Live" clId="Web-{28E8385C-8A94-16F7-6EB1-03F10E2E1298}" dt="2026-06-19T20:49:14.191" v="3" actId="1076"/>
          <ac:picMkLst>
            <pc:docMk/>
            <pc:sldMk cId="2391963198" sldId="256"/>
            <ac:picMk id="1026" creationId="{DBCE0F62-5978-5D25-A8E3-872B6D0A991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Nataly Tobar Gallardo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ES" dirty="0"/>
            <a:t>Desarrolladora </a:t>
          </a:r>
          <a:r>
            <a:rPr lang="es-ES" dirty="0" err="1"/>
            <a:t>FullStack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D83D273F-1115-482C-898E-B3B5C8248876}">
      <dgm:prSet phldrT="[Texto]"/>
      <dgm:spPr/>
      <dgm:t>
        <a:bodyPr/>
        <a:lstStyle/>
        <a:p>
          <a:r>
            <a:rPr lang="es-CL" dirty="0" err="1">
              <a:solidFill>
                <a:schemeClr val="bg1"/>
              </a:solidFill>
              <a:latin typeface="Calibri"/>
            </a:rPr>
            <a:t>Frontend</a:t>
          </a:r>
          <a:r>
            <a:rPr lang="es-CL" dirty="0">
              <a:solidFill>
                <a:schemeClr val="bg1"/>
              </a:solidFill>
              <a:latin typeface="Calibri"/>
            </a:rPr>
            <a:t>: </a:t>
          </a:r>
          <a:r>
            <a:rPr lang="es-CL" dirty="0" err="1">
              <a:solidFill>
                <a:schemeClr val="bg1"/>
              </a:solidFill>
              <a:latin typeface="Calibri"/>
            </a:rPr>
            <a:t>React</a:t>
          </a:r>
          <a:r>
            <a:rPr lang="es-CL" dirty="0">
              <a:solidFill>
                <a:schemeClr val="bg1"/>
              </a:solidFill>
              <a:latin typeface="Calibri"/>
            </a:rPr>
            <a:t> 19 + Vite</a:t>
          </a:r>
          <a:endParaRPr lang="es-CL" dirty="0">
            <a:solidFill>
              <a:schemeClr val="bg1"/>
            </a:solidFill>
          </a:endParaRPr>
        </a:p>
      </dgm:t>
    </dgm:pt>
    <dgm:pt modelId="{0F17F0C3-5514-4694-9634-7D64E0423891}" type="parTrans" cxnId="{67699E5B-1323-4F26-B69D-296565D75A2D}">
      <dgm:prSet/>
      <dgm:spPr/>
    </dgm:pt>
    <dgm:pt modelId="{B9DCB519-3DF4-4E76-8854-94CF68167792}" type="sibTrans" cxnId="{67699E5B-1323-4F26-B69D-296565D75A2D}">
      <dgm:prSet/>
      <dgm:spPr/>
    </dgm:pt>
    <dgm:pt modelId="{D7CC60DD-B467-4ABF-8FE4-452C78B59D04}">
      <dgm:prSet/>
      <dgm:spPr/>
      <dgm:t>
        <a:bodyPr/>
        <a:lstStyle/>
        <a:p>
          <a:r>
            <a:rPr lang="es-CL" dirty="0">
              <a:solidFill>
                <a:schemeClr val="bg1"/>
              </a:solidFill>
              <a:latin typeface="Calibri"/>
            </a:rPr>
            <a:t> </a:t>
          </a:r>
          <a:r>
            <a:rPr lang="es-CL" dirty="0" err="1">
              <a:solidFill>
                <a:schemeClr val="bg1"/>
              </a:solidFill>
              <a:latin typeface="Calibri"/>
            </a:rPr>
            <a:t>Backend</a:t>
          </a:r>
          <a:r>
            <a:rPr lang="es-CL" dirty="0">
              <a:solidFill>
                <a:schemeClr val="bg1"/>
              </a:solidFill>
              <a:latin typeface="Calibri"/>
            </a:rPr>
            <a:t>: Python/</a:t>
          </a:r>
          <a:r>
            <a:rPr lang="es-CL" dirty="0" err="1">
              <a:solidFill>
                <a:schemeClr val="bg1"/>
              </a:solidFill>
              <a:latin typeface="Calibri"/>
            </a:rPr>
            <a:t>FastAPI</a:t>
          </a:r>
          <a:endParaRPr lang="es-CL" dirty="0">
            <a:solidFill>
              <a:schemeClr val="bg1"/>
            </a:solidFill>
            <a:latin typeface="Calibri"/>
          </a:endParaRPr>
        </a:p>
      </dgm:t>
    </dgm:pt>
    <dgm:pt modelId="{66C3DC39-3A70-4BF2-88F1-6B6563AEFFBC}" type="parTrans" cxnId="{367D5276-1E29-45AB-9490-54F7A225ECBA}">
      <dgm:prSet/>
      <dgm:spPr/>
      <dgm:t>
        <a:bodyPr/>
        <a:lstStyle/>
        <a:p>
          <a:endParaRPr lang="es-CL"/>
        </a:p>
      </dgm:t>
    </dgm:pt>
    <dgm:pt modelId="{A992B12C-0B8C-4799-B1D1-861420F91FFA}" type="sibTrans" cxnId="{367D5276-1E29-45AB-9490-54F7A225ECBA}">
      <dgm:prSet/>
      <dgm:spPr/>
      <dgm:t>
        <a:bodyPr/>
        <a:lstStyle/>
        <a:p>
          <a:endParaRPr lang="es-CL"/>
        </a:p>
      </dgm:t>
    </dgm:pt>
    <dgm:pt modelId="{0496C49C-9461-47D7-8E4F-4E0223994800}">
      <dgm:prSet/>
      <dgm:spPr/>
      <dgm:t>
        <a:bodyPr/>
        <a:lstStyle/>
        <a:p>
          <a:r>
            <a:rPr lang="es-CL" dirty="0">
              <a:solidFill>
                <a:schemeClr val="bg1"/>
              </a:solidFill>
              <a:latin typeface="Calibri"/>
            </a:rPr>
            <a:t> IA, Seguridad y BD</a:t>
          </a:r>
        </a:p>
      </dgm:t>
    </dgm:pt>
    <dgm:pt modelId="{2C63AE37-A2B9-4E03-B1FF-8BE6C66E8DE5}" type="parTrans" cxnId="{9EB79A2F-C6A8-4691-87BC-4EF44E9477BE}">
      <dgm:prSet/>
      <dgm:spPr/>
      <dgm:t>
        <a:bodyPr/>
        <a:lstStyle/>
        <a:p>
          <a:endParaRPr lang="es-CL"/>
        </a:p>
      </dgm:t>
    </dgm:pt>
    <dgm:pt modelId="{219E31DB-CFBE-4F84-92F9-01E429B2647E}" type="sibTrans" cxnId="{9EB79A2F-C6A8-4691-87BC-4EF44E9477BE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1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1"/>
      <dgm:spPr/>
    </dgm:pt>
    <dgm:pt modelId="{52D125D2-FCA7-4A2D-AB39-B6BD54F251F2}" type="pres">
      <dgm:prSet presAssocID="{78BFB295-8F5D-4286-B72B-79142F8F0E13}" presName="text" presStyleLbl="node1" presStyleIdx="0" presStyleCnt="1">
        <dgm:presLayoutVars>
          <dgm:bulletEnabled val="1"/>
        </dgm:presLayoutVars>
      </dgm:prSet>
      <dgm:spPr/>
    </dgm:pt>
  </dgm:ptLst>
  <dgm:cxnLst>
    <dgm:cxn modelId="{0E0F0604-6CC2-4656-9EB6-796971FAFD2B}" type="presOf" srcId="{0496C49C-9461-47D7-8E4F-4E0223994800}" destId="{54FC4CB6-0791-48D3-B2C5-2E99B8AFCFF7}" srcOrd="0" destOrd="4" presId="urn:microsoft.com/office/officeart/2005/8/layout/vList4"/>
    <dgm:cxn modelId="{7F56A304-41B2-409B-8F32-E9D293EFC49C}" type="presOf" srcId="{0496C49C-9461-47D7-8E4F-4E0223994800}" destId="{52D125D2-FCA7-4A2D-AB39-B6BD54F251F2}" srcOrd="1" destOrd="4" presId="urn:microsoft.com/office/officeart/2005/8/layout/vList4"/>
    <dgm:cxn modelId="{399BD705-2380-48A3-9C48-1D49A5A32D61}" type="presOf" srcId="{2E221207-005F-49CB-81E1-6D036D64322B}" destId="{52D125D2-FCA7-4A2D-AB39-B6BD54F251F2}" srcOrd="1" destOrd="5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9EB79A2F-C6A8-4691-87BC-4EF44E9477BE}" srcId="{78BFB295-8F5D-4286-B72B-79142F8F0E13}" destId="{0496C49C-9461-47D7-8E4F-4E0223994800}" srcOrd="3" destOrd="0" parTransId="{2C63AE37-A2B9-4E03-B1FF-8BE6C66E8DE5}" sibTransId="{219E31DB-CFBE-4F84-92F9-01E429B2647E}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67699E5B-1323-4F26-B69D-296565D75A2D}" srcId="{78BFB295-8F5D-4286-B72B-79142F8F0E13}" destId="{D83D273F-1115-482C-898E-B3B5C8248876}" srcOrd="1" destOrd="0" parTransId="{0F17F0C3-5514-4694-9634-7D64E0423891}" sibTransId="{B9DCB519-3DF4-4E76-8854-94CF68167792}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367D5276-1E29-45AB-9490-54F7A225ECBA}" srcId="{78BFB295-8F5D-4286-B72B-79142F8F0E13}" destId="{D7CC60DD-B467-4ABF-8FE4-452C78B59D04}" srcOrd="2" destOrd="0" parTransId="{66C3DC39-3A70-4BF2-88F1-6B6563AEFFBC}" sibTransId="{A992B12C-0B8C-4799-B1D1-861420F91FFA}"/>
    <dgm:cxn modelId="{ECA8877B-3C69-4805-A112-CB8A910811DB}" type="presOf" srcId="{D7CC60DD-B467-4ABF-8FE4-452C78B59D04}" destId="{52D125D2-FCA7-4A2D-AB39-B6BD54F251F2}" srcOrd="1" destOrd="3" presId="urn:microsoft.com/office/officeart/2005/8/layout/vList4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4D6EBAA4-D4B0-4A04-8449-D321D7AE13C3}" type="presOf" srcId="{D7CC60DD-B467-4ABF-8FE4-452C78B59D04}" destId="{54FC4CB6-0791-48D3-B2C5-2E99B8AFCFF7}" srcOrd="0" destOrd="3" presId="urn:microsoft.com/office/officeart/2005/8/layout/vList4"/>
    <dgm:cxn modelId="{DBAA07C3-4AA0-46F9-9A8B-2A9B939D271F}" type="presOf" srcId="{D83D273F-1115-482C-898E-B3B5C8248876}" destId="{54FC4CB6-0791-48D3-B2C5-2E99B8AFCFF7}" srcOrd="0" destOrd="2" presId="urn:microsoft.com/office/officeart/2005/8/layout/vList4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4" destOrd="0" parTransId="{B200B6AA-AA2A-4CB8-80FF-4BB54938E8A5}" sibTransId="{3728DB5E-E904-481D-A1E5-49CF4AFFC0D3}"/>
    <dgm:cxn modelId="{A70C9FD5-2935-4C81-937A-B6C05F5E54BA}" type="presOf" srcId="{2E221207-005F-49CB-81E1-6D036D64322B}" destId="{54FC4CB6-0791-48D3-B2C5-2E99B8AFCFF7}" srcOrd="0" destOrd="5" presId="urn:microsoft.com/office/officeart/2005/8/layout/vList4"/>
    <dgm:cxn modelId="{DD8FC6F0-D79F-4596-AF95-30CF9445BE7F}" type="presOf" srcId="{D83D273F-1115-482C-898E-B3B5C8248876}" destId="{52D125D2-FCA7-4A2D-AB39-B6BD54F251F2}" srcOrd="1" destOrd="2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43505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700" kern="1200" dirty="0"/>
            <a:t>Nataly Tobar Gallardo</a:t>
          </a:r>
          <a:endParaRPr lang="es-CL" sz="4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700" kern="1200" dirty="0"/>
            <a:t>Desarrolladora </a:t>
          </a:r>
          <a:r>
            <a:rPr lang="es-ES" sz="3700" kern="1200" dirty="0" err="1"/>
            <a:t>FullStack</a:t>
          </a:r>
          <a:endParaRPr lang="es-CL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3700" kern="1200" dirty="0" err="1">
              <a:solidFill>
                <a:schemeClr val="bg1"/>
              </a:solidFill>
              <a:latin typeface="Calibri"/>
            </a:rPr>
            <a:t>Frontend</a:t>
          </a:r>
          <a:r>
            <a:rPr lang="es-CL" sz="3700" kern="1200" dirty="0">
              <a:solidFill>
                <a:schemeClr val="bg1"/>
              </a:solidFill>
              <a:latin typeface="Calibri"/>
            </a:rPr>
            <a:t>: </a:t>
          </a:r>
          <a:r>
            <a:rPr lang="es-CL" sz="3700" kern="1200" dirty="0" err="1">
              <a:solidFill>
                <a:schemeClr val="bg1"/>
              </a:solidFill>
              <a:latin typeface="Calibri"/>
            </a:rPr>
            <a:t>React</a:t>
          </a:r>
          <a:r>
            <a:rPr lang="es-CL" sz="3700" kern="1200" dirty="0">
              <a:solidFill>
                <a:schemeClr val="bg1"/>
              </a:solidFill>
              <a:latin typeface="Calibri"/>
            </a:rPr>
            <a:t> 19 + Vite</a:t>
          </a:r>
          <a:endParaRPr lang="es-CL" sz="3700" kern="1200" dirty="0">
            <a:solidFill>
              <a:schemeClr val="bg1"/>
            </a:solidFill>
          </a:endParaRP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3700" kern="1200" dirty="0">
              <a:solidFill>
                <a:schemeClr val="bg1"/>
              </a:solidFill>
              <a:latin typeface="Calibri"/>
            </a:rPr>
            <a:t> </a:t>
          </a:r>
          <a:r>
            <a:rPr lang="es-CL" sz="3700" kern="1200" dirty="0" err="1">
              <a:solidFill>
                <a:schemeClr val="bg1"/>
              </a:solidFill>
              <a:latin typeface="Calibri"/>
            </a:rPr>
            <a:t>Backend</a:t>
          </a:r>
          <a:r>
            <a:rPr lang="es-CL" sz="3700" kern="1200" dirty="0">
              <a:solidFill>
                <a:schemeClr val="bg1"/>
              </a:solidFill>
              <a:latin typeface="Calibri"/>
            </a:rPr>
            <a:t>: Python/</a:t>
          </a:r>
          <a:r>
            <a:rPr lang="es-CL" sz="3700" kern="1200" dirty="0" err="1">
              <a:solidFill>
                <a:schemeClr val="bg1"/>
              </a:solidFill>
              <a:latin typeface="Calibri"/>
            </a:rPr>
            <a:t>FastAPI</a:t>
          </a:r>
          <a:endParaRPr lang="es-CL" sz="3700" kern="1200" dirty="0">
            <a:solidFill>
              <a:schemeClr val="bg1"/>
            </a:solidFill>
            <a:latin typeface="Calibri"/>
          </a:endParaRP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3700" kern="1200" dirty="0">
              <a:solidFill>
                <a:schemeClr val="bg1"/>
              </a:solidFill>
              <a:latin typeface="Calibri"/>
            </a:rPr>
            <a:t> IA, Seguridad y BD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CL" sz="3700" kern="1200" dirty="0"/>
        </a:p>
      </dsp:txBody>
      <dsp:txXfrm>
        <a:off x="1961754" y="0"/>
        <a:ext cx="5671739" cy="4350554"/>
      </dsp:txXfrm>
    </dsp:sp>
    <dsp:sp modelId="{9A7E2690-DE9C-4572-9BE5-B8C9A3B8BBB3}">
      <dsp:nvSpPr>
        <dsp:cNvPr id="0" name=""/>
        <dsp:cNvSpPr/>
      </dsp:nvSpPr>
      <dsp:spPr>
        <a:xfrm>
          <a:off x="435055" y="435055"/>
          <a:ext cx="1526698" cy="3480443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21-06-2026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529" y="495097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“MINDCHECK AI”</a:t>
            </a:r>
          </a:p>
          <a:p>
            <a:pPr algn="ctr"/>
            <a:r>
              <a:rPr lang="es-MX" sz="2400" dirty="0"/>
              <a:t>PRESENTACIÓN FINAL CAPSTONE — Junio 2026</a:t>
            </a:r>
            <a:endParaRPr lang="es-CL" sz="2400" dirty="0"/>
          </a:p>
        </p:txBody>
      </p:sp>
      <p:pic>
        <p:nvPicPr>
          <p:cNvPr id="2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940DD14E-9A2F-BEB9-BA28-E596FDF8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963" y="4463247"/>
            <a:ext cx="4536009" cy="114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735202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“MINDCHECK AI”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“MINDCHECK AI”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detectado</a:t>
            </a:r>
          </a:p>
          <a:p>
            <a:pPr lvl="0" algn="ctr"/>
            <a:endParaRPr lang="es-MX" u="sng" dirty="0"/>
          </a:p>
          <a:p>
            <a:pPr algn="just"/>
            <a:r>
              <a:rPr lang="es-MX" dirty="0"/>
              <a:t>Los estudiantes universitarios enfrentan altos niveles de estrés, ansiedad y agotamiento emocional sin herramientas preventivas accesibles. Las instituciones carecen de sistemas de detección temprana de riesgo emocional.</a:t>
            </a:r>
            <a:endParaRPr lang="es-CL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Solución propuesta</a:t>
            </a:r>
          </a:p>
          <a:p>
            <a:pPr lvl="0" algn="ctr"/>
            <a:r>
              <a:rPr lang="es-CL" dirty="0" err="1"/>
              <a:t>MindCheck</a:t>
            </a:r>
            <a:r>
              <a:rPr lang="es-CL" dirty="0"/>
              <a:t> AI: </a:t>
            </a:r>
            <a:r>
              <a:rPr lang="es-CL" dirty="0" err="1"/>
              <a:t>Progressive</a:t>
            </a:r>
            <a:r>
              <a:rPr lang="es-CL" dirty="0"/>
              <a:t> Web App de bienestar emocional estudiantil con bitácora cifrada (AES-256-GCM), análisis de sentimiento por IA (GPT-4o mini), </a:t>
            </a:r>
            <a:r>
              <a:rPr lang="es-CL" dirty="0" err="1"/>
              <a:t>dashboard</a:t>
            </a:r>
            <a:r>
              <a:rPr lang="es-CL" dirty="0"/>
              <a:t> con visualizaciones interactivas, sistema de alertas de riesgo crítico (</a:t>
            </a:r>
            <a:r>
              <a:rPr lang="es-CL" dirty="0" err="1"/>
              <a:t>push</a:t>
            </a:r>
            <a:r>
              <a:rPr lang="es-CL" dirty="0"/>
              <a:t> + email SMTP), recursos de autoayuda con meditación guiada y herramientas interactivas. Desplegada en producción (</a:t>
            </a:r>
            <a:r>
              <a:rPr lang="es-CL" dirty="0" err="1"/>
              <a:t>Vercel</a:t>
            </a:r>
            <a:r>
              <a:rPr lang="es-CL" dirty="0"/>
              <a:t> + Render). 30 </a:t>
            </a:r>
            <a:r>
              <a:rPr lang="es-CL" dirty="0" err="1"/>
              <a:t>tests</a:t>
            </a:r>
            <a:r>
              <a:rPr lang="es-CL" dirty="0"/>
              <a:t> automatizados. Cumple Ley 19.628.</a:t>
            </a:r>
            <a:endParaRPr lang="es-MX" u="sng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“MINDCHECK AI”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047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Desarrollar una Progressive Web App que permita el monitoreo preventivo del bienestar emocional de estudiantes universitarios de Duoc UC, integrando inteligencia artificial para el análisis de sentimiento y un sistema de alertas tempranas.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756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OE1: Diseñar arquitectura </a:t>
            </a:r>
            <a:r>
              <a:rPr lang="es-CL" dirty="0" err="1"/>
              <a:t>SoC</a:t>
            </a:r>
            <a:r>
              <a:rPr lang="es-CL" dirty="0"/>
              <a:t> de 6 capas </a:t>
            </a:r>
          </a:p>
          <a:p>
            <a:pPr algn="ctr"/>
            <a:r>
              <a:rPr lang="es-CL" dirty="0"/>
              <a:t>OE2: Implementar bitácora emocional cifrada (AES-256-GCM) con análisis IA (GPT-4o mini) </a:t>
            </a:r>
          </a:p>
          <a:p>
            <a:pPr algn="ctr"/>
            <a:r>
              <a:rPr lang="es-CL" dirty="0"/>
              <a:t>OE3: Crear </a:t>
            </a:r>
            <a:r>
              <a:rPr lang="es-CL" dirty="0" err="1"/>
              <a:t>dashboard</a:t>
            </a:r>
            <a:r>
              <a:rPr lang="es-CL" dirty="0"/>
              <a:t> emocional con visualizaciones </a:t>
            </a:r>
            <a:r>
              <a:rPr lang="es-CL" dirty="0" err="1"/>
              <a:t>Recharts</a:t>
            </a:r>
            <a:r>
              <a:rPr lang="es-CL" dirty="0"/>
              <a:t> y recursos de autoayuda interactivos </a:t>
            </a:r>
          </a:p>
          <a:p>
            <a:pPr algn="ctr"/>
            <a:r>
              <a:rPr lang="es-CL" dirty="0"/>
              <a:t>OE4: Implementar PWA offline con Service Worker, caché de API y banner de conectividad </a:t>
            </a:r>
          </a:p>
          <a:p>
            <a:pPr algn="ctr"/>
            <a:r>
              <a:rPr lang="es-CL" dirty="0"/>
              <a:t>OE5: Desarrollar sistema de alertas con notificaciones </a:t>
            </a:r>
            <a:r>
              <a:rPr lang="es-CL" dirty="0" err="1"/>
              <a:t>push</a:t>
            </a:r>
            <a:r>
              <a:rPr lang="es-CL" dirty="0"/>
              <a:t> VAPID y correo SMTP de riesgo crítico </a:t>
            </a:r>
          </a:p>
          <a:p>
            <a:pPr algn="ctr"/>
            <a:r>
              <a:rPr lang="es-CL" dirty="0"/>
              <a:t>OE6: Desplegar en producción (</a:t>
            </a:r>
            <a:r>
              <a:rPr lang="es-CL" dirty="0" err="1"/>
              <a:t>Vercel</a:t>
            </a:r>
            <a:r>
              <a:rPr lang="es-CL" dirty="0"/>
              <a:t> + Render + </a:t>
            </a:r>
            <a:r>
              <a:rPr lang="es-CL" dirty="0" err="1"/>
              <a:t>Supabase</a:t>
            </a:r>
            <a:r>
              <a:rPr lang="es-CL" dirty="0"/>
              <a:t>) con 30 </a:t>
            </a:r>
            <a:r>
              <a:rPr lang="es-CL" dirty="0" err="1"/>
              <a:t>tests</a:t>
            </a:r>
            <a:r>
              <a:rPr lang="es-CL" dirty="0"/>
              <a:t> automatizados y CI/CD 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“MINDCHECK AI”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TextBox 1026"/>
          <p:cNvSpPr txBox="1"/>
          <p:nvPr/>
        </p:nvSpPr>
        <p:spPr>
          <a:xfrm>
            <a:off x="559813" y="2302907"/>
            <a:ext cx="54000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b="1" dirty="0"/>
              <a:t>Alcances:</a:t>
            </a:r>
            <a:endParaRPr lang="es-CL" sz="1600" dirty="0"/>
          </a:p>
          <a:p>
            <a:r>
              <a:rPr lang="es-CL" sz="1600" dirty="0"/>
              <a:t>Registro/</a:t>
            </a:r>
            <a:r>
              <a:rPr lang="es-CL" sz="1600" dirty="0" err="1"/>
              <a:t>login</a:t>
            </a:r>
            <a:r>
              <a:rPr lang="es-CL" sz="1600" dirty="0"/>
              <a:t> con correo institucional @duocuc.cl</a:t>
            </a:r>
          </a:p>
          <a:p>
            <a:r>
              <a:rPr lang="es-CL" sz="1600" dirty="0"/>
              <a:t>Bitácora emocional con cifrado AES-256-GCM</a:t>
            </a:r>
          </a:p>
          <a:p>
            <a:r>
              <a:rPr lang="es-CL" sz="1600" dirty="0"/>
              <a:t>Análisis de sentimiento con IA (GPT-4o mini) con </a:t>
            </a:r>
            <a:r>
              <a:rPr lang="es-CL" sz="1600" dirty="0" err="1"/>
              <a:t>fallback</a:t>
            </a:r>
            <a:r>
              <a:rPr lang="es-CL" sz="1600" dirty="0"/>
              <a:t> automático</a:t>
            </a:r>
          </a:p>
          <a:p>
            <a:r>
              <a:rPr lang="es-CL" sz="1600" dirty="0" err="1"/>
              <a:t>Dashboard</a:t>
            </a:r>
            <a:r>
              <a:rPr lang="es-CL" sz="1600" dirty="0"/>
              <a:t> con 3 visualizaciones interactivas (tendencia, emociones, </a:t>
            </a:r>
            <a:r>
              <a:rPr lang="es-CL" sz="1600" dirty="0" err="1"/>
              <a:t>heatmap</a:t>
            </a:r>
            <a:r>
              <a:rPr lang="es-CL" sz="1600" dirty="0"/>
              <a:t>)</a:t>
            </a:r>
          </a:p>
          <a:p>
            <a:r>
              <a:rPr lang="es-CL" sz="1600" dirty="0"/>
              <a:t>Sistema de alertas de riesgo crítico por notificaciones </a:t>
            </a:r>
            <a:r>
              <a:rPr lang="es-CL" sz="1600" dirty="0" err="1"/>
              <a:t>push</a:t>
            </a:r>
            <a:r>
              <a:rPr lang="es-CL" sz="1600" dirty="0"/>
              <a:t> y email SMTP</a:t>
            </a:r>
          </a:p>
          <a:p>
            <a:r>
              <a:rPr lang="es-CL" sz="1600" dirty="0"/>
              <a:t>Recursos de autoayuda con meditación guiada </a:t>
            </a:r>
            <a:r>
              <a:rPr lang="es-CL" sz="1600" dirty="0" err="1"/>
              <a:t>binaural</a:t>
            </a:r>
            <a:r>
              <a:rPr lang="es-CL" sz="1600" dirty="0"/>
              <a:t> y herramientas interactivas</a:t>
            </a:r>
          </a:p>
          <a:p>
            <a:r>
              <a:rPr lang="es-CL" sz="1600" dirty="0"/>
              <a:t>PWA completa: Service Worker, caché offline de API y banner de conectividad</a:t>
            </a:r>
          </a:p>
          <a:p>
            <a:r>
              <a:rPr lang="es-CL" sz="1600" dirty="0"/>
              <a:t>30 </a:t>
            </a:r>
            <a:r>
              <a:rPr lang="es-CL" sz="1600" dirty="0" err="1"/>
              <a:t>tests</a:t>
            </a:r>
            <a:r>
              <a:rPr lang="es-CL" sz="1600" dirty="0"/>
              <a:t> automatizados (20 </a:t>
            </a:r>
            <a:r>
              <a:rPr lang="es-CL" sz="1600" dirty="0" err="1"/>
              <a:t>backend</a:t>
            </a:r>
            <a:r>
              <a:rPr lang="es-CL" sz="1600" dirty="0"/>
              <a:t> + 10 </a:t>
            </a:r>
            <a:r>
              <a:rPr lang="es-CL" sz="1600" dirty="0" err="1"/>
              <a:t>frontend</a:t>
            </a:r>
            <a:r>
              <a:rPr lang="es-CL" sz="1600" dirty="0"/>
              <a:t>) con CI/CD en GitHub </a:t>
            </a:r>
            <a:r>
              <a:rPr lang="es-CL" sz="1600" dirty="0" err="1"/>
              <a:t>Actions</a:t>
            </a:r>
            <a:endParaRPr lang="es-CL" sz="1600" dirty="0"/>
          </a:p>
          <a:p>
            <a:r>
              <a:rPr lang="es-CL" sz="1600" dirty="0"/>
              <a:t>Desplegada en producción: </a:t>
            </a:r>
            <a:r>
              <a:rPr lang="es-CL" sz="1600" dirty="0" err="1"/>
              <a:t>Vercel</a:t>
            </a:r>
            <a:r>
              <a:rPr lang="es-CL" sz="1600" dirty="0"/>
              <a:t> + Render + </a:t>
            </a:r>
            <a:r>
              <a:rPr lang="es-CL" sz="1600" dirty="0" err="1"/>
              <a:t>Supabase</a:t>
            </a:r>
            <a:r>
              <a:rPr lang="es-CL" sz="1600" dirty="0"/>
              <a:t> ($0 USD)</a:t>
            </a:r>
          </a:p>
          <a:p>
            <a:pPr>
              <a:spcAft>
                <a:spcPts val="300"/>
              </a:spcAft>
            </a:pPr>
            <a:endParaRPr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028" name="TextBox 1027"/>
          <p:cNvSpPr txBox="1"/>
          <p:nvPr/>
        </p:nvSpPr>
        <p:spPr>
          <a:xfrm>
            <a:off x="6333787" y="2302907"/>
            <a:ext cx="5400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b="1" dirty="0"/>
              <a:t>Limitaciones:</a:t>
            </a:r>
            <a:endParaRPr lang="es-CL" sz="1600" dirty="0"/>
          </a:p>
          <a:p>
            <a:r>
              <a:rPr lang="es-CL" sz="1600" dirty="0"/>
              <a:t>No reemplaza atención psicológica profesional</a:t>
            </a:r>
          </a:p>
          <a:p>
            <a:r>
              <a:rPr lang="es-CL" sz="1600" dirty="0"/>
              <a:t>Análisis IA depende de conectividad a </a:t>
            </a:r>
            <a:r>
              <a:rPr lang="es-CL" sz="1600" dirty="0" err="1"/>
              <a:t>OpenAI</a:t>
            </a:r>
            <a:r>
              <a:rPr lang="es-CL" sz="1600" dirty="0"/>
              <a:t> (</a:t>
            </a:r>
            <a:r>
              <a:rPr lang="es-CL" sz="1600" dirty="0" err="1"/>
              <a:t>fallback</a:t>
            </a:r>
            <a:r>
              <a:rPr lang="es-CL" sz="1600" dirty="0"/>
              <a:t> activo si no hay conexión)</a:t>
            </a:r>
          </a:p>
          <a:p>
            <a:r>
              <a:rPr lang="es-CL" sz="1600" dirty="0" err="1"/>
              <a:t>Backend</a:t>
            </a:r>
            <a:r>
              <a:rPr lang="es-CL" sz="1600" dirty="0"/>
              <a:t> en </a:t>
            </a:r>
            <a:r>
              <a:rPr lang="es-CL" sz="1600" dirty="0" err="1"/>
              <a:t>tier</a:t>
            </a:r>
            <a:r>
              <a:rPr lang="es-CL" sz="1600" dirty="0"/>
              <a:t> gratuito de Render (</a:t>
            </a:r>
            <a:r>
              <a:rPr lang="es-CL" sz="1600" dirty="0" err="1"/>
              <a:t>cold</a:t>
            </a:r>
            <a:r>
              <a:rPr lang="es-CL" sz="1600" dirty="0"/>
              <a:t> </a:t>
            </a:r>
            <a:r>
              <a:rPr lang="es-CL" sz="1600" dirty="0" err="1"/>
              <a:t>start</a:t>
            </a:r>
            <a:r>
              <a:rPr lang="es-CL" sz="1600" dirty="0"/>
              <a:t> de ~50s tras inactividad)</a:t>
            </a:r>
          </a:p>
          <a:p>
            <a:r>
              <a:rPr lang="es-CL" sz="1600" dirty="0"/>
              <a:t>Sin prueba piloto con estudiantes reales (planificada como trabajo futuro)</a:t>
            </a:r>
          </a:p>
          <a:p>
            <a:r>
              <a:rPr lang="es-CL" sz="1600" dirty="0"/>
              <a:t>Credenciales SMTP de producción pendientes de configurar en Render</a:t>
            </a:r>
          </a:p>
          <a:p>
            <a:pPr>
              <a:spcAft>
                <a:spcPts val="300"/>
              </a:spcAft>
            </a:pPr>
            <a:endParaRPr dirty="0">
              <a:solidFill>
                <a:srgbClr val="3333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“MINDCHECK AI”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AC07894-4758-B850-6265-384896AFE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6" y="889812"/>
            <a:ext cx="10487025" cy="53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“MINDCHECK AI”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365A88C-8404-480D-EDBA-3E163BE5E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62" y="2048208"/>
            <a:ext cx="10963275" cy="44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“MINDCHECK AI”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endParaRPr lang="es-MX" sz="360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2A3FE1F4-0192-CF9E-EC12-399CB41DB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74" y="1950720"/>
            <a:ext cx="10487025" cy="469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“MINDCHECK AI”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A1DAFEF8-37F2-F8E3-5FFA-044B8760F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6" y="2064637"/>
            <a:ext cx="10487025" cy="43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“MINDCHECK AI”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AA9EDE69-3281-6257-D6EE-4D5368F9C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007" y="2073033"/>
            <a:ext cx="10059354" cy="457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500000" y="2400000"/>
            <a:ext cx="110000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dirty="0" err="1">
                <a:solidFill>
                  <a:srgbClr val="333333"/>
                </a:solidFill>
                <a:latin typeface="Calibri"/>
              </a:rPr>
              <a:t>Resultados</a:t>
            </a:r>
            <a:r>
              <a:rPr sz="1600" b="1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Calibri"/>
              </a:rPr>
              <a:t>técnicos</a:t>
            </a:r>
            <a:r>
              <a:rPr sz="1600" b="1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Calibri"/>
              </a:rPr>
              <a:t>obtenidos</a:t>
            </a:r>
            <a:r>
              <a:rPr sz="1600" b="1" dirty="0">
                <a:solidFill>
                  <a:srgbClr val="333333"/>
                </a:solidFill>
                <a:latin typeface="Calibri"/>
              </a:rPr>
              <a:t>: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- 15 </a:t>
            </a:r>
            <a:r>
              <a:rPr lang="es-CL" sz="1400" dirty="0" err="1">
                <a:solidFill>
                  <a:srgbClr val="333333"/>
                </a:solidFill>
              </a:rPr>
              <a:t>endpoints</a:t>
            </a:r>
            <a:r>
              <a:rPr lang="es-CL" sz="1400" dirty="0">
                <a:solidFill>
                  <a:srgbClr val="333333"/>
                </a:solidFill>
              </a:rPr>
              <a:t> API documentados y funcionales (Swagger UI)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- 7 flujos </a:t>
            </a:r>
            <a:r>
              <a:rPr lang="es-CL" sz="1400" dirty="0" err="1">
                <a:solidFill>
                  <a:srgbClr val="333333"/>
                </a:solidFill>
              </a:rPr>
              <a:t>end-to-end</a:t>
            </a:r>
            <a:r>
              <a:rPr lang="es-CL" sz="1400" dirty="0">
                <a:solidFill>
                  <a:srgbClr val="333333"/>
                </a:solidFill>
              </a:rPr>
              <a:t> operativos (registro → análisis IA → alertas)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Cifrado AES-256-GCM verificado en BD — contenido nunca en texto plano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</a:t>
            </a:r>
            <a:r>
              <a:rPr lang="es-CL" sz="1400" dirty="0" err="1">
                <a:solidFill>
                  <a:srgbClr val="333333"/>
                </a:solidFill>
              </a:rPr>
              <a:t>Dashboard</a:t>
            </a:r>
            <a:r>
              <a:rPr lang="es-CL" sz="1400" dirty="0">
                <a:solidFill>
                  <a:srgbClr val="333333"/>
                </a:solidFill>
              </a:rPr>
              <a:t> con 3 visualizaciones dinámicas (tendencia, emociones, </a:t>
            </a:r>
            <a:r>
              <a:rPr lang="es-CL" sz="1400" dirty="0" err="1">
                <a:solidFill>
                  <a:srgbClr val="333333"/>
                </a:solidFill>
              </a:rPr>
              <a:t>heatmap</a:t>
            </a:r>
            <a:r>
              <a:rPr lang="es-CL" sz="1400" dirty="0">
                <a:solidFill>
                  <a:srgbClr val="333333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PWA completa: caché offline, banner de conectividad, notificaciones </a:t>
            </a:r>
            <a:r>
              <a:rPr lang="es-CL" sz="1400" dirty="0" err="1">
                <a:solidFill>
                  <a:srgbClr val="333333"/>
                </a:solidFill>
              </a:rPr>
              <a:t>push</a:t>
            </a:r>
            <a:r>
              <a:rPr lang="es-CL" sz="1400" dirty="0">
                <a:solidFill>
                  <a:srgbClr val="333333"/>
                </a:solidFill>
              </a:rPr>
              <a:t> VAPID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</a:t>
            </a:r>
            <a:r>
              <a:rPr lang="es-CL" sz="1400" dirty="0" err="1">
                <a:solidFill>
                  <a:srgbClr val="333333"/>
                </a:solidFill>
              </a:rPr>
              <a:t>Fallback</a:t>
            </a:r>
            <a:r>
              <a:rPr lang="es-CL" sz="1400" dirty="0">
                <a:solidFill>
                  <a:srgbClr val="333333"/>
                </a:solidFill>
              </a:rPr>
              <a:t> de IA funcional ante error 429 de </a:t>
            </a:r>
            <a:r>
              <a:rPr lang="es-CL" sz="1400" dirty="0" err="1">
                <a:solidFill>
                  <a:srgbClr val="333333"/>
                </a:solidFill>
              </a:rPr>
              <a:t>OpenAI</a:t>
            </a:r>
            <a:endParaRPr lang="es-CL" sz="1400" dirty="0">
              <a:solidFill>
                <a:srgbClr val="333333"/>
              </a:solidFill>
            </a:endParaRP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Alertas de riesgo crítico por email SMTP al equipo de bienestar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Meditación guiada con ondas </a:t>
            </a:r>
            <a:r>
              <a:rPr lang="es-CL" sz="1400" dirty="0" err="1">
                <a:solidFill>
                  <a:srgbClr val="333333"/>
                </a:solidFill>
              </a:rPr>
              <a:t>binaurales</a:t>
            </a:r>
            <a:r>
              <a:rPr lang="es-CL" sz="1400" dirty="0">
                <a:solidFill>
                  <a:srgbClr val="333333"/>
                </a:solidFill>
              </a:rPr>
              <a:t> y narración por voz (100% offline)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- 30 </a:t>
            </a:r>
            <a:r>
              <a:rPr lang="es-CL" sz="1400" dirty="0" err="1">
                <a:solidFill>
                  <a:srgbClr val="333333"/>
                </a:solidFill>
              </a:rPr>
              <a:t>tests</a:t>
            </a:r>
            <a:r>
              <a:rPr lang="es-CL" sz="1400" dirty="0">
                <a:solidFill>
                  <a:srgbClr val="333333"/>
                </a:solidFill>
              </a:rPr>
              <a:t> automatizados (20 </a:t>
            </a:r>
            <a:r>
              <a:rPr lang="es-CL" sz="1400" dirty="0" err="1">
                <a:solidFill>
                  <a:srgbClr val="333333"/>
                </a:solidFill>
              </a:rPr>
              <a:t>backend</a:t>
            </a:r>
            <a:r>
              <a:rPr lang="es-CL" sz="1400" dirty="0">
                <a:solidFill>
                  <a:srgbClr val="333333"/>
                </a:solidFill>
              </a:rPr>
              <a:t> + 10 </a:t>
            </a:r>
            <a:r>
              <a:rPr lang="es-CL" sz="1400" dirty="0" err="1">
                <a:solidFill>
                  <a:srgbClr val="333333"/>
                </a:solidFill>
              </a:rPr>
              <a:t>frontend</a:t>
            </a:r>
            <a:r>
              <a:rPr lang="es-CL" sz="1400" dirty="0">
                <a:solidFill>
                  <a:srgbClr val="333333"/>
                </a:solidFill>
              </a:rPr>
              <a:t>) — 100% </a:t>
            </a:r>
            <a:r>
              <a:rPr lang="es-CL" sz="1400" dirty="0" err="1">
                <a:solidFill>
                  <a:srgbClr val="333333"/>
                </a:solidFill>
              </a:rPr>
              <a:t>pass</a:t>
            </a:r>
            <a:r>
              <a:rPr lang="es-CL" sz="1400" dirty="0">
                <a:solidFill>
                  <a:srgbClr val="333333"/>
                </a:solidFill>
              </a:rPr>
              <a:t> </a:t>
            </a:r>
            <a:r>
              <a:rPr lang="es-CL" sz="1400" dirty="0" err="1">
                <a:solidFill>
                  <a:srgbClr val="333333"/>
                </a:solidFill>
              </a:rPr>
              <a:t>rate</a:t>
            </a:r>
            <a:endParaRPr lang="es-CL" sz="1400" dirty="0">
              <a:solidFill>
                <a:srgbClr val="333333"/>
              </a:solidFill>
            </a:endParaRP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CI/CD con GitHub </a:t>
            </a:r>
            <a:r>
              <a:rPr lang="es-CL" sz="1400" dirty="0" err="1">
                <a:solidFill>
                  <a:srgbClr val="333333"/>
                </a:solidFill>
              </a:rPr>
              <a:t>Actions</a:t>
            </a:r>
            <a:r>
              <a:rPr lang="es-CL" sz="1400" dirty="0">
                <a:solidFill>
                  <a:srgbClr val="333333"/>
                </a:solidFill>
              </a:rPr>
              <a:t>: </a:t>
            </a:r>
            <a:r>
              <a:rPr lang="es-CL" sz="1400" dirty="0" err="1">
                <a:solidFill>
                  <a:srgbClr val="333333"/>
                </a:solidFill>
              </a:rPr>
              <a:t>lint</a:t>
            </a:r>
            <a:r>
              <a:rPr lang="es-CL" sz="1400" dirty="0">
                <a:solidFill>
                  <a:srgbClr val="333333"/>
                </a:solidFill>
              </a:rPr>
              <a:t> + </a:t>
            </a:r>
            <a:r>
              <a:rPr lang="es-CL" sz="1400" dirty="0" err="1">
                <a:solidFill>
                  <a:srgbClr val="333333"/>
                </a:solidFill>
              </a:rPr>
              <a:t>tests</a:t>
            </a:r>
            <a:r>
              <a:rPr lang="es-CL" sz="1400" dirty="0">
                <a:solidFill>
                  <a:srgbClr val="333333"/>
                </a:solidFill>
              </a:rPr>
              <a:t> en cada </a:t>
            </a:r>
            <a:r>
              <a:rPr lang="es-CL" sz="1400" dirty="0" err="1">
                <a:solidFill>
                  <a:srgbClr val="333333"/>
                </a:solidFill>
              </a:rPr>
              <a:t>push</a:t>
            </a:r>
            <a:endParaRPr lang="es-CL" sz="1400" dirty="0">
              <a:solidFill>
                <a:srgbClr val="333333"/>
              </a:solidFill>
            </a:endParaRP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Desplegado en producción: </a:t>
            </a:r>
            <a:r>
              <a:rPr lang="es-CL" sz="1400" dirty="0" err="1">
                <a:solidFill>
                  <a:srgbClr val="333333"/>
                </a:solidFill>
              </a:rPr>
              <a:t>Vercel</a:t>
            </a:r>
            <a:r>
              <a:rPr lang="es-CL" sz="1400" dirty="0">
                <a:solidFill>
                  <a:srgbClr val="333333"/>
                </a:solidFill>
              </a:rPr>
              <a:t> + Render + </a:t>
            </a:r>
            <a:r>
              <a:rPr lang="es-CL" sz="1400" dirty="0" err="1">
                <a:solidFill>
                  <a:srgbClr val="333333"/>
                </a:solidFill>
              </a:rPr>
              <a:t>Supabase</a:t>
            </a:r>
            <a:r>
              <a:rPr lang="es-CL" sz="1400" dirty="0">
                <a:solidFill>
                  <a:srgbClr val="333333"/>
                </a:solidFill>
              </a:rPr>
              <a:t> ($0 USD)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- 6 de 6 objetivos específicos cumplidos al 100%</a:t>
            </a:r>
            <a:endParaRPr sz="1400" dirty="0">
              <a:solidFill>
                <a:srgbClr val="3333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500000" y="2400000"/>
            <a:ext cx="11000000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dirty="0" err="1">
                <a:solidFill>
                  <a:srgbClr val="333333"/>
                </a:solidFill>
                <a:latin typeface="Calibri"/>
              </a:rPr>
              <a:t>Obstáculos</a:t>
            </a:r>
            <a:r>
              <a:rPr sz="1600" b="1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Calibri"/>
              </a:rPr>
              <a:t>encontrados</a:t>
            </a:r>
            <a:r>
              <a:rPr sz="1600" b="1" dirty="0">
                <a:solidFill>
                  <a:srgbClr val="333333"/>
                </a:solidFill>
                <a:latin typeface="Calibri"/>
              </a:rPr>
              <a:t> y </a:t>
            </a:r>
            <a:r>
              <a:rPr sz="1600" b="1" dirty="0" err="1">
                <a:solidFill>
                  <a:srgbClr val="333333"/>
                </a:solidFill>
                <a:latin typeface="Calibri"/>
              </a:rPr>
              <a:t>soluciones</a:t>
            </a:r>
            <a:r>
              <a:rPr sz="1600" b="1" dirty="0">
                <a:solidFill>
                  <a:srgbClr val="333333"/>
                </a:solidFill>
                <a:latin typeface="Calibri"/>
              </a:rPr>
              <a:t>:</a:t>
            </a:r>
          </a:p>
          <a:p>
            <a:pPr>
              <a:spcAft>
                <a:spcPts val="300"/>
              </a:spcAft>
            </a:pPr>
            <a:r>
              <a:rPr lang="es-CL" sz="1200" b="1" dirty="0">
                <a:solidFill>
                  <a:srgbClr val="333333"/>
                </a:solidFill>
              </a:rPr>
              <a:t>- </a:t>
            </a:r>
            <a:r>
              <a:rPr lang="es-CL" sz="1400" dirty="0">
                <a:solidFill>
                  <a:srgbClr val="333333"/>
                </a:solidFill>
              </a:rPr>
              <a:t>JWT inválido: </a:t>
            </a:r>
            <a:r>
              <a:rPr lang="es-CL" sz="1400" dirty="0" err="1">
                <a:solidFill>
                  <a:srgbClr val="333333"/>
                </a:solidFill>
              </a:rPr>
              <a:t>Supabase</a:t>
            </a:r>
            <a:r>
              <a:rPr lang="es-CL" sz="1400" dirty="0">
                <a:solidFill>
                  <a:srgbClr val="333333"/>
                </a:solidFill>
              </a:rPr>
              <a:t> migró HS256 → ES256 — Solución: decodificación dinámica con JWKS.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FK </a:t>
            </a:r>
            <a:r>
              <a:rPr lang="es-CL" sz="1400" dirty="0" err="1">
                <a:solidFill>
                  <a:srgbClr val="333333"/>
                </a:solidFill>
              </a:rPr>
              <a:t>violation</a:t>
            </a:r>
            <a:r>
              <a:rPr lang="es-CL" sz="1400" dirty="0">
                <a:solidFill>
                  <a:srgbClr val="333333"/>
                </a:solidFill>
              </a:rPr>
              <a:t> al registrar usuario — Solución: </a:t>
            </a:r>
            <a:r>
              <a:rPr lang="es-CL" sz="1400" dirty="0" err="1">
                <a:solidFill>
                  <a:srgbClr val="333333"/>
                </a:solidFill>
              </a:rPr>
              <a:t>trigger</a:t>
            </a:r>
            <a:r>
              <a:rPr lang="es-CL" sz="1400" dirty="0">
                <a:solidFill>
                  <a:srgbClr val="333333"/>
                </a:solidFill>
              </a:rPr>
              <a:t> </a:t>
            </a:r>
            <a:r>
              <a:rPr lang="es-CL" sz="1400" dirty="0" err="1">
                <a:solidFill>
                  <a:srgbClr val="333333"/>
                </a:solidFill>
              </a:rPr>
              <a:t>handle_new_user</a:t>
            </a:r>
            <a:r>
              <a:rPr lang="es-CL" sz="1400" dirty="0">
                <a:solidFill>
                  <a:srgbClr val="333333"/>
                </a:solidFill>
              </a:rPr>
              <a:t>() para </a:t>
            </a:r>
            <a:r>
              <a:rPr lang="es-CL" sz="1400" dirty="0" err="1">
                <a:solidFill>
                  <a:srgbClr val="333333"/>
                </a:solidFill>
              </a:rPr>
              <a:t>auto-crear</a:t>
            </a:r>
            <a:r>
              <a:rPr lang="es-CL" sz="1400" dirty="0">
                <a:solidFill>
                  <a:srgbClr val="333333"/>
                </a:solidFill>
              </a:rPr>
              <a:t> perfil.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</a:t>
            </a:r>
            <a:r>
              <a:rPr lang="es-CL" sz="1400" dirty="0" err="1">
                <a:solidFill>
                  <a:srgbClr val="333333"/>
                </a:solidFill>
              </a:rPr>
              <a:t>OpenAI</a:t>
            </a:r>
            <a:r>
              <a:rPr lang="es-CL" sz="1400" dirty="0">
                <a:solidFill>
                  <a:srgbClr val="333333"/>
                </a:solidFill>
              </a:rPr>
              <a:t> error 429 (cuota agotada) — Solución: </a:t>
            </a:r>
            <a:r>
              <a:rPr lang="es-CL" sz="1400" dirty="0" err="1">
                <a:solidFill>
                  <a:srgbClr val="333333"/>
                </a:solidFill>
              </a:rPr>
              <a:t>fallback</a:t>
            </a:r>
            <a:r>
              <a:rPr lang="es-CL" sz="1400" dirty="0">
                <a:solidFill>
                  <a:srgbClr val="333333"/>
                </a:solidFill>
              </a:rPr>
              <a:t> con respuesta predeterminada (SRS §6.3).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NOT NULL en sincronización retroactiva — Solución: </a:t>
            </a:r>
            <a:r>
              <a:rPr lang="es-CL" sz="1400" dirty="0" err="1">
                <a:solidFill>
                  <a:srgbClr val="333333"/>
                </a:solidFill>
              </a:rPr>
              <a:t>placeholders</a:t>
            </a:r>
            <a:r>
              <a:rPr lang="es-CL" sz="1400" dirty="0">
                <a:solidFill>
                  <a:srgbClr val="333333"/>
                </a:solidFill>
              </a:rPr>
              <a:t> + defaults en campos obligatorios.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Service Worker no cacheaba API — Solución: estrategias Network-First y </a:t>
            </a:r>
            <a:r>
              <a:rPr lang="es-CL" sz="1400" dirty="0" err="1">
                <a:solidFill>
                  <a:srgbClr val="333333"/>
                </a:solidFill>
              </a:rPr>
              <a:t>Stale</a:t>
            </a:r>
            <a:r>
              <a:rPr lang="es-CL" sz="1400" dirty="0">
                <a:solidFill>
                  <a:srgbClr val="333333"/>
                </a:solidFill>
              </a:rPr>
              <a:t>-While-</a:t>
            </a:r>
            <a:r>
              <a:rPr lang="es-CL" sz="1400" dirty="0" err="1">
                <a:solidFill>
                  <a:srgbClr val="333333"/>
                </a:solidFill>
              </a:rPr>
              <a:t>Revalidate</a:t>
            </a:r>
            <a:r>
              <a:rPr lang="es-CL" sz="1400" dirty="0">
                <a:solidFill>
                  <a:srgbClr val="333333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Meditación guiada sin audio — Solución: Web Audio API (ondas </a:t>
            </a:r>
            <a:r>
              <a:rPr lang="es-CL" sz="1400" dirty="0" err="1">
                <a:solidFill>
                  <a:srgbClr val="333333"/>
                </a:solidFill>
              </a:rPr>
              <a:t>binaurales</a:t>
            </a:r>
            <a:r>
              <a:rPr lang="es-CL" sz="1400" dirty="0">
                <a:solidFill>
                  <a:srgbClr val="333333"/>
                </a:solidFill>
              </a:rPr>
              <a:t>) + Web Speech API (narración).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Guía de voz solo hablaba al inicio — Solución: </a:t>
            </a:r>
            <a:r>
              <a:rPr lang="es-CL" sz="1400" dirty="0" err="1">
                <a:solidFill>
                  <a:srgbClr val="333333"/>
                </a:solidFill>
              </a:rPr>
              <a:t>useEffect</a:t>
            </a:r>
            <a:r>
              <a:rPr lang="es-CL" sz="1400" dirty="0">
                <a:solidFill>
                  <a:srgbClr val="333333"/>
                </a:solidFill>
              </a:rPr>
              <a:t> dedicado + </a:t>
            </a:r>
            <a:r>
              <a:rPr lang="es-CL" sz="1400" dirty="0" err="1">
                <a:solidFill>
                  <a:srgbClr val="333333"/>
                </a:solidFill>
              </a:rPr>
              <a:t>spokenTimesRef</a:t>
            </a:r>
            <a:r>
              <a:rPr lang="es-CL" sz="1400" dirty="0">
                <a:solidFill>
                  <a:srgbClr val="333333"/>
                </a:solidFill>
              </a:rPr>
              <a:t> + tolerancia de 3s.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URL de </a:t>
            </a:r>
            <a:r>
              <a:rPr lang="es-CL" sz="1400" dirty="0" err="1">
                <a:solidFill>
                  <a:srgbClr val="333333"/>
                </a:solidFill>
              </a:rPr>
              <a:t>backend</a:t>
            </a:r>
            <a:r>
              <a:rPr lang="es-CL" sz="1400" dirty="0">
                <a:solidFill>
                  <a:srgbClr val="333333"/>
                </a:solidFill>
              </a:rPr>
              <a:t> incorrecta en producción (7m1u vs 7w1u) — Solución: actualizar VITE_API_URL en </a:t>
            </a:r>
            <a:r>
              <a:rPr lang="es-CL" sz="1400" dirty="0" err="1">
                <a:solidFill>
                  <a:srgbClr val="333333"/>
                </a:solidFill>
              </a:rPr>
              <a:t>Vercel</a:t>
            </a:r>
            <a:r>
              <a:rPr lang="es-CL" sz="1400" dirty="0">
                <a:solidFill>
                  <a:srgbClr val="333333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</a:t>
            </a:r>
            <a:r>
              <a:rPr lang="es-CL" sz="1400" dirty="0" err="1">
                <a:solidFill>
                  <a:srgbClr val="333333"/>
                </a:solidFill>
              </a:rPr>
              <a:t>Cold</a:t>
            </a:r>
            <a:r>
              <a:rPr lang="es-CL" sz="1400" dirty="0">
                <a:solidFill>
                  <a:srgbClr val="333333"/>
                </a:solidFill>
              </a:rPr>
              <a:t> </a:t>
            </a:r>
            <a:r>
              <a:rPr lang="es-CL" sz="1400" dirty="0" err="1">
                <a:solidFill>
                  <a:srgbClr val="333333"/>
                </a:solidFill>
              </a:rPr>
              <a:t>start</a:t>
            </a:r>
            <a:r>
              <a:rPr lang="es-CL" sz="1400" dirty="0">
                <a:solidFill>
                  <a:srgbClr val="333333"/>
                </a:solidFill>
              </a:rPr>
              <a:t> de Render (~50s) — Solución: abrir la app 5 minutos antes de cada demostración.</a:t>
            </a:r>
          </a:p>
          <a:p>
            <a:pPr>
              <a:spcAft>
                <a:spcPts val="300"/>
              </a:spcAft>
            </a:pPr>
            <a:r>
              <a:rPr lang="es-CL" sz="1400" dirty="0">
                <a:solidFill>
                  <a:srgbClr val="333333"/>
                </a:solidFill>
              </a:rPr>
              <a:t>- Correo @duocuc.cl inaccesible para verificación — Solución: cuenta alternativa nat.tobar@duocuc.cl.</a:t>
            </a:r>
            <a:endParaRPr sz="1400" dirty="0">
              <a:solidFill>
                <a:srgbClr val="3333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5097</TotalTime>
  <Words>899</Words>
  <Application>Microsoft Office PowerPoint</Application>
  <PresentationFormat>Panorámica</PresentationFormat>
  <Paragraphs>84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NATALY VALESCA TOBAR GALLARDO</cp:lastModifiedBy>
  <cp:revision>6</cp:revision>
  <dcterms:created xsi:type="dcterms:W3CDTF">2023-10-28T21:12:11Z</dcterms:created>
  <dcterms:modified xsi:type="dcterms:W3CDTF">2026-06-25T06:34:19Z</dcterms:modified>
</cp:coreProperties>
</file>